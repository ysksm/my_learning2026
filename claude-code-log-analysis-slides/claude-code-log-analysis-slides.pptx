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1828800"/>
            <a:ext cx="3291840" cy="3291840"/>
          </a:xfrm>
          <a:prstGeom prst="ellipse">
            <a:avLst/>
          </a:prstGeom>
          <a:solidFill>
            <a:srgbClr val="D9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A8A92"/>
                </a:solidFill>
                <a:latin typeface="Consolas"/>
              </a:rPr>
              <a:t>CC-LOG /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55664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A8A92"/>
                </a:solidFill>
                <a:latin typeface="Consolas"/>
              </a:rPr>
              <a:t>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12B8A6"/>
                </a:solidFill>
                <a:latin typeface="Consolas"/>
              </a:rPr>
              <a:t>CLAUDE CODE × JSONL × 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7863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4200" b="1">
                <a:solidFill>
                  <a:srgbClr val="17212B"/>
                </a:solidFill>
                <a:latin typeface="Meiryo"/>
              </a:rPr>
              <a:t>Claude Code のログを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4200" b="1">
                <a:solidFill>
                  <a:srgbClr val="2563EB"/>
                </a:solidFill>
                <a:latin typeface="Meiryo"/>
              </a:rPr>
              <a:t>丸ごと解析する。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6949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42515B"/>
                </a:solidFill>
                <a:latin typeface="Meiryo"/>
              </a:rPr>
              <a:t>Claude Code は全セッションを JSONL で記録しています。その在り処・スキーマ・分析手順を step by step で辿り、会話・ツール・トークン・時間・エラーまで「解析できるもの全部」を取り出します。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09160"/>
            <a:ext cx="2286000" cy="384048"/>
          </a:xfrm>
          <a:prstGeom prst="roundRect">
            <a:avLst/>
          </a:prstGeom>
          <a:solidFill>
            <a:srgbClr val="E0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87D72"/>
                </a:solidFill>
                <a:latin typeface="Meiryo"/>
              </a:rPr>
              <a:t>jq + Python だけでOK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377440"/>
            <a:ext cx="3794760" cy="3108960"/>
          </a:xfrm>
          <a:prstGeom prst="round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01168" rIns="201168"/>
          <a:lstStyle/>
          <a:p>
            <a:pPr algn="ctr">
              <a:lnSpc>
                <a:spcPct val="150000"/>
              </a:lnSpc>
            </a:pPr>
            <a:r>
              <a:rPr sz="1300">
                <a:solidFill>
                  <a:srgbClr val="FFFFFF"/>
                </a:solidFill>
                <a:latin typeface="Meiryo"/>
              </a:rPr>
              <a:t>このスライドのゴールは、</a:t>
            </a:r>
          </a:p>
          <a:p>
            <a:pPr>
              <a:lnSpc>
                <a:spcPct val="150000"/>
              </a:lnSpc>
            </a:pPr>
            <a:r>
              <a:rPr sz="1400" b="1">
                <a:solidFill>
                  <a:srgbClr val="FFD65A"/>
                </a:solidFill>
                <a:latin typeface="Meiryo"/>
              </a:rPr>
              <a:t>自分のログから利用実態レポートを自力で作れること。</a:t>
            </a:r>
          </a:p>
          <a:p>
            <a:pPr>
              <a:lnSpc>
                <a:spcPct val="150000"/>
              </a:lnSpc>
            </a:pPr>
            <a:r>
              <a:rPr sz="1300">
                <a:solidFill>
                  <a:srgbClr val="FFFFFF"/>
                </a:solidFill>
                <a:latin typeface="Meiryo"/>
              </a:rPr>
              <a:t>よく使うツール、かかったコスト、待ち時間、失敗傾向まで数字で見えるようになります。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1828800"/>
            <a:ext cx="3291840" cy="3291840"/>
          </a:xfrm>
          <a:prstGeom prst="ellipse">
            <a:avLst/>
          </a:prstGeom>
          <a:solidFill>
            <a:srgbClr val="D9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A8A92"/>
                </a:solidFill>
                <a:latin typeface="Consolas"/>
              </a:rPr>
              <a:t>CC-LOG /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55664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A8A92"/>
                </a:solidFill>
                <a:latin typeface="Consolas"/>
              </a:rPr>
              <a:t>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2B8A6"/>
                </a:solidFill>
                <a:latin typeface="Consolas"/>
              </a:rPr>
              <a:t>01 / まず在り処を知る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000" b="1">
                <a:solidFill>
                  <a:srgbClr val="17212B"/>
                </a:solidFill>
                <a:latin typeface="Meiryo"/>
              </a:rPr>
              <a:t>ログはどこにある？ — ~/.claude/ の地図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42515B"/>
                </a:solidFill>
                <a:latin typeface="Meiryo"/>
              </a:rPr>
              <a:t>主役はプロジェクトごとのセッショントランスクリプト。作業ディレクトリのパスを / → - に変換したフォルダに、セッションIDごとの JSONL が置かれます。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1064240" cy="3200400"/>
          </a:xfrm>
          <a:prstGeom prst="roundRect">
            <a:avLst/>
          </a:prstGeom>
          <a:solidFill>
            <a:srgbClr val="12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lnSpc>
                <a:spcPct val="118000"/>
              </a:lnSpc>
            </a:pPr>
            <a:r>
              <a:rPr sz="1200">
                <a:solidFill>
                  <a:srgbClr val="D7E7EF"/>
                </a:solidFill>
                <a:latin typeface="Consolas"/>
              </a:rPr>
              <a:t>~/.claude/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D7E7EF"/>
                </a:solidFill>
                <a:latin typeface="Consolas"/>
              </a:rPr>
              <a:t>├── projects/</a:t>
            </a:r>
            <a:r>
              <a:rPr sz="1200">
                <a:solidFill>
                  <a:srgbClr val="87D8FF"/>
                </a:solidFill>
                <a:latin typeface="Consolas"/>
              </a:rPr>
              <a:t>                       ← ★ 本命：セッショントランスクリプト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D7E7EF"/>
                </a:solidFill>
                <a:latin typeface="Consolas"/>
              </a:rPr>
              <a:t>│   └── -home-user-my_learning2026/   (cwd の / を - に置換した名前)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D7E7EF"/>
                </a:solidFill>
                <a:latin typeface="Consolas"/>
              </a:rPr>
              <a:t>│       └── &lt;session-id&gt;.jsonl        (1セッション = 1ファイル)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D7E7EF"/>
                </a:solidFill>
                <a:latin typeface="Consolas"/>
              </a:rPr>
              <a:t>├── history.jsonl</a:t>
            </a:r>
            <a:r>
              <a:rPr sz="1200">
                <a:solidFill>
                  <a:srgbClr val="87D8FF"/>
                </a:solidFill>
                <a:latin typeface="Consolas"/>
              </a:rPr>
              <a:t>                   ← 入力プロンプトの履歴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D7E7EF"/>
                </a:solidFill>
                <a:latin typeface="Consolas"/>
              </a:rPr>
              <a:t>├── todos/</a:t>
            </a:r>
            <a:r>
              <a:rPr sz="1200">
                <a:solidFill>
                  <a:srgbClr val="87D8FF"/>
                </a:solidFill>
                <a:latin typeface="Consolas"/>
              </a:rPr>
              <a:t>                          ← TodoWrite のタスク状態 (JSON)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D7E7EF"/>
                </a:solidFill>
                <a:latin typeface="Consolas"/>
              </a:rPr>
              <a:t>├── shell-snapshots/</a:t>
            </a:r>
            <a:r>
              <a:rPr sz="1200">
                <a:solidFill>
                  <a:srgbClr val="87D8FF"/>
                </a:solidFill>
                <a:latin typeface="Consolas"/>
              </a:rPr>
              <a:t>                ← Bash 実行時のシェル環境スナップショット</a:t>
            </a:r>
          </a:p>
          <a:p>
            <a:pPr>
              <a:lnSpc>
                <a:spcPct val="118000"/>
              </a:lnSpc>
            </a:pPr>
            <a:r>
              <a:rPr sz="1200">
                <a:solidFill>
                  <a:srgbClr val="D7E7EF"/>
                </a:solidFill>
                <a:latin typeface="Consolas"/>
              </a:rPr>
              <a:t>└── settings.json</a:t>
            </a:r>
            <a:r>
              <a:rPr sz="1200">
                <a:solidFill>
                  <a:srgbClr val="87D8FF"/>
                </a:solidFill>
                <a:latin typeface="Consolas"/>
              </a:rPr>
              <a:t>                   ← cleanupPeriodDays で保持期間を制御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440680"/>
            <a:ext cx="64008" cy="685800"/>
          </a:xfrm>
          <a:prstGeom prst="rect">
            <a:avLst/>
          </a:prstGeom>
          <a:solidFill>
            <a:srgbClr val="FFD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7" y="5440680"/>
            <a:ext cx="11000232" cy="685800"/>
          </a:xfrm>
          <a:prstGeom prst="rect">
            <a:avLst/>
          </a:prstGeom>
          <a:solidFill>
            <a:srgbClr val="FFF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82296"/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17212B"/>
                </a:solidFill>
                <a:latin typeface="Meiryo"/>
              </a:rPr>
              <a:t>注意：</a:t>
            </a:r>
            <a:r>
              <a:rPr sz="1200">
                <a:solidFill>
                  <a:srgbClr val="4A4420"/>
                </a:solidFill>
                <a:latin typeface="Meiryo"/>
              </a:rPr>
              <a:t>古いトランスクリプトは cleanupPeriodDays（既定30日）で自動削除されます。長期分析したい場合は先にコピーして退避しましょう。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1828800"/>
            <a:ext cx="3291840" cy="3291840"/>
          </a:xfrm>
          <a:prstGeom prst="ellipse">
            <a:avLst/>
          </a:prstGeom>
          <a:solidFill>
            <a:srgbClr val="D9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A8A92"/>
                </a:solidFill>
                <a:latin typeface="Consolas"/>
              </a:rPr>
              <a:t>CC-LOG /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55664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A8A92"/>
                </a:solidFill>
                <a:latin typeface="Consolas"/>
              </a:rPr>
              <a:t>STEP 1 —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2B8A6"/>
                </a:solidFill>
                <a:latin typeface="Consolas"/>
              </a:rPr>
              <a:t>02 / 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000" b="1">
                <a:solidFill>
                  <a:srgbClr val="17212B"/>
                </a:solidFill>
                <a:latin typeface="Meiryo"/>
              </a:rPr>
              <a:t>JSONL の基本 — 1行 = 1レコード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42515B"/>
                </a:solidFill>
                <a:latin typeface="Meiryo"/>
              </a:rPr>
              <a:t>JSONL は「1行に1つの JSON オブジェクト」を並べた形式。行単位で読めるので jq やストリーム処理と相性抜群。まずはセッション一覧と行数から。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11064240" cy="2103120"/>
          </a:xfrm>
          <a:prstGeom prst="roundRect">
            <a:avLst/>
          </a:prstGeom>
          <a:solidFill>
            <a:srgbClr val="12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lnSpc>
                <a:spcPct val="118000"/>
              </a:lnSpc>
            </a:pPr>
            <a:r>
              <a:rPr sz="1100">
                <a:solidFill>
                  <a:srgbClr val="8298A8"/>
                </a:solidFill>
                <a:latin typeface="Consolas"/>
              </a:rPr>
              <a:t># プロジェクトのログディレクトリへ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cd ~/.claude/projects/-home-user-my_learning2026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8298A8"/>
                </a:solidFill>
                <a:latin typeface="Consolas"/>
              </a:rPr>
              <a:t># セッション一覧（更新順）とレコード数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ls -lt *.jsonl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wc -l *.jsonl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8298A8"/>
                </a:solidFill>
                <a:latin typeface="Consolas"/>
              </a:rPr>
              <a:t># 最初の1レコードを整形して眺める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head -1 &lt;session-id&gt;.jsonl | jq 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4340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28016" bIns="91440"/>
          <a:lstStyle/>
          <a:p>
            <a:pPr algn="ctr"/>
            <a:r>
              <a:rPr sz="1400" b="1">
                <a:solidFill>
                  <a:srgbClr val="17212B"/>
                </a:solidFill>
                <a:latin typeface="Meiryo"/>
              </a:rPr>
              <a:t>ここで分かること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12B8A6"/>
                </a:solidFill>
                <a:latin typeface="Meiryo"/>
              </a:rPr>
              <a:t>✓ </a:t>
            </a:r>
            <a:r>
              <a:rPr sz="1200">
                <a:solidFill>
                  <a:srgbClr val="485660"/>
                </a:solidFill>
                <a:latin typeface="Meiryo"/>
              </a:rPr>
              <a:t>セッションの数と規模（行数 ≒ イベント数）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12B8A6"/>
                </a:solidFill>
                <a:latin typeface="Meiryo"/>
              </a:rPr>
              <a:t>✓ </a:t>
            </a:r>
            <a:r>
              <a:rPr sz="1200">
                <a:solidFill>
                  <a:srgbClr val="485660"/>
                </a:solidFill>
                <a:latin typeface="Meiryo"/>
              </a:rPr>
              <a:t>ファイル更新日時 ＝ 最後に使った日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12B8A6"/>
                </a:solidFill>
                <a:latin typeface="Meiryo"/>
              </a:rPr>
              <a:t>✓ </a:t>
            </a:r>
            <a:r>
              <a:rPr sz="1200">
                <a:solidFill>
                  <a:srgbClr val="485660"/>
                </a:solidFill>
                <a:latin typeface="Meiryo"/>
              </a:rPr>
              <a:t>プロジェクトごとの利用量の偏り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34340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28016" bIns="91440"/>
          <a:lstStyle/>
          <a:p>
            <a:pPr algn="ctr"/>
            <a:r>
              <a:rPr sz="1400" b="1">
                <a:solidFill>
                  <a:srgbClr val="17212B"/>
                </a:solidFill>
                <a:latin typeface="Meiryo"/>
              </a:rPr>
              <a:t>準備するツール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485660"/>
                </a:solidFill>
                <a:latin typeface="Meiryo"/>
              </a:rPr>
              <a:t/>
            </a:r>
            <a:r>
              <a:rPr sz="1200">
                <a:solidFill>
                  <a:srgbClr val="485660"/>
                </a:solidFill>
                <a:latin typeface="Meiryo"/>
              </a:rPr>
              <a:t>jq（集計ワンライナー用）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485660"/>
                </a:solidFill>
                <a:latin typeface="Meiryo"/>
              </a:rPr>
              <a:t/>
            </a:r>
            <a:r>
              <a:rPr sz="1200">
                <a:solidFill>
                  <a:srgbClr val="485660"/>
                </a:solidFill>
                <a:latin typeface="Meiryo"/>
              </a:rPr>
              <a:t>Python 3（本格分析用。pandas があると便利）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1828800"/>
            <a:ext cx="3291840" cy="3291840"/>
          </a:xfrm>
          <a:prstGeom prst="ellipse">
            <a:avLst/>
          </a:prstGeom>
          <a:solidFill>
            <a:srgbClr val="D9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A8A92"/>
                </a:solidFill>
                <a:latin typeface="Consolas"/>
              </a:rPr>
              <a:t>CC-LOG /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55664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A8A92"/>
                </a:solidFill>
                <a:latin typeface="Consolas"/>
              </a:rPr>
              <a:t>STEP 2 — RECORD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2B8A6"/>
                </a:solidFill>
                <a:latin typeface="Consolas"/>
              </a:rPr>
              <a:t>03 / STEP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000" b="1">
                <a:solidFill>
                  <a:srgbClr val="17212B"/>
                </a:solidFill>
                <a:latin typeface="Meiryo"/>
              </a:rPr>
              <a:t>レコード種別を把握する — type フィールド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42515B"/>
                </a:solidFill>
                <a:latin typeface="Meiryo"/>
              </a:rPr>
              <a:t>全レコードはトップレベルの type で分類できます。まず種別の分布を数えると、そのセッションの構造が一目で分かります。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11064240" cy="502920"/>
          </a:xfrm>
          <a:prstGeom prst="roundRect">
            <a:avLst/>
          </a:prstGeom>
          <a:solidFill>
            <a:srgbClr val="12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jq -r '.type' *.jsonl | sort | uniq -c | sort -rn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697480"/>
          <a:ext cx="110642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108960"/>
                <a:gridCol w="5852160"/>
              </a:tblGrid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7212B"/>
                          </a:solidFill>
                          <a:latin typeface="Meiryo"/>
                        </a:rPr>
                        <a:t>type</a:t>
                      </a:r>
                    </a:p>
                  </a:txBody>
                  <a:tcPr marL="73152" marR="54864" marT="27432" marB="27432">
                    <a:solidFill>
                      <a:srgbClr val="E8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7212B"/>
                          </a:solidFill>
                          <a:latin typeface="Meiryo"/>
                        </a:rPr>
                        <a:t>意味</a:t>
                      </a:r>
                    </a:p>
                  </a:txBody>
                  <a:tcPr marL="73152" marR="54864" marT="27432" marB="27432">
                    <a:solidFill>
                      <a:srgbClr val="E8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7212B"/>
                          </a:solidFill>
                          <a:latin typeface="Meiryo"/>
                        </a:rPr>
                        <a:t>中身のポイント</a:t>
                      </a:r>
                    </a:p>
                  </a:txBody>
                  <a:tcPr marL="73152" marR="54864" marT="27432" marB="27432">
                    <a:solidFill>
                      <a:srgbClr val="E8F6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user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ユーザー発話 or ツール結果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content が文字列なら人間の入力、配列（tool_result）ならツールの戻り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assistant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Claude の応答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content[] に text / thinking / tool_use。usage（トークン）と model 付き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attachment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コンテキスト添付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システムリマインダーや差し込み情報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queue-operation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入力キュー操作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enqueue / dequeue とプロンプト原文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summary / last-prompt 等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セッション管理用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コンパクト時の要約、再開用ポインタ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1828800"/>
            <a:ext cx="3291840" cy="3291840"/>
          </a:xfrm>
          <a:prstGeom prst="ellipse">
            <a:avLst/>
          </a:prstGeom>
          <a:solidFill>
            <a:srgbClr val="D9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A8A92"/>
                </a:solidFill>
                <a:latin typeface="Consolas"/>
              </a:rPr>
              <a:t>CC-LOG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55664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A8A92"/>
                </a:solidFill>
                <a:latin typeface="Consolas"/>
              </a:rPr>
              <a:t>STEP 3 — METADATA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2B8A6"/>
                </a:solidFill>
                <a:latin typeface="Consolas"/>
              </a:rPr>
              <a:t>04 / STEP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000" b="1">
                <a:solidFill>
                  <a:srgbClr val="17212B"/>
                </a:solidFill>
                <a:latin typeface="Meiryo"/>
              </a:rPr>
              <a:t>共通メタデータを読む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42515B"/>
                </a:solidFill>
                <a:latin typeface="Meiryo"/>
              </a:rPr>
              <a:t>user / assistant レコードには毎回同じメタデータが付きます。これが後の全分析の「軸」になります。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965960"/>
          <a:ext cx="5577840" cy="3867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91840"/>
              </a:tblGrid>
              <a:tr h="429767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7212B"/>
                          </a:solidFill>
                          <a:latin typeface="Meiryo"/>
                        </a:rPr>
                        <a:t>フィールド</a:t>
                      </a:r>
                    </a:p>
                  </a:txBody>
                  <a:tcPr marL="73152" marR="54864" marT="27432" marB="27432">
                    <a:solidFill>
                      <a:srgbClr val="E8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7212B"/>
                          </a:solidFill>
                          <a:latin typeface="Meiryo"/>
                        </a:rPr>
                        <a:t>使い道</a:t>
                      </a:r>
                    </a:p>
                  </a:txBody>
                  <a:tcPr marL="73152" marR="54864" marT="27432" marB="27432">
                    <a:solidFill>
                      <a:srgbClr val="E8F6F5"/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uuid / parentUuid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会話ツリーの復元（次ステップ）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timestamp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時間分析すべての基礎（ISO 8601）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sessionId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セッション横断の集計キー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cwd / gitBranch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どのリポジトリ・ブランチの作業か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version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Claude Code のバージョン推移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isSidechain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サブエージェントの発話か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permissionMode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権限モード（default / plan 等）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requestId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API リクエスト単位の紐付け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0" y="1965960"/>
            <a:ext cx="5212080" cy="3291840"/>
          </a:xfrm>
          <a:prstGeom prst="roundRect">
            <a:avLst/>
          </a:prstGeom>
          <a:solidFill>
            <a:srgbClr val="12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lnSpc>
                <a:spcPct val="118000"/>
              </a:lnSpc>
            </a:pPr>
            <a:r>
              <a:rPr sz="1100">
                <a:solidFill>
                  <a:srgbClr val="8298A8"/>
                </a:solidFill>
                <a:latin typeface="Consolas"/>
              </a:rPr>
              <a:t># 誰が・いつ・どこで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  "type": </a:t>
            </a:r>
            <a:r>
              <a:rPr sz="1100">
                <a:solidFill>
                  <a:srgbClr val="87D8FF"/>
                </a:solidFill>
                <a:latin typeface="Consolas"/>
              </a:rPr>
              <a:t>"user",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  "uuid": "81ac19aa-…",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  "parentUuid": null,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  "timestamp": "2026-07-15T11:56:36Z",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  "sessionId": "8c908057-…",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  "cwd": "/home/user/my_learning2026",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  "gitBranch": "claude/…-x3180r",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  "version": "2.1.210"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806440"/>
            <a:ext cx="64008" cy="548640"/>
          </a:xfrm>
          <a:prstGeom prst="rect">
            <a:avLst/>
          </a:prstGeom>
          <a:solidFill>
            <a:srgbClr val="FFD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7" y="5806440"/>
            <a:ext cx="11000232" cy="548640"/>
          </a:xfrm>
          <a:prstGeom prst="rect">
            <a:avLst/>
          </a:prstGeom>
          <a:solidFill>
            <a:srgbClr val="FFF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82296"/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17212B"/>
                </a:solidFill>
                <a:latin typeface="Meiryo"/>
              </a:rPr>
              <a:t>ポイント：</a:t>
            </a:r>
            <a:r>
              <a:rPr sz="1200">
                <a:solidFill>
                  <a:srgbClr val="4A4420"/>
                </a:solidFill>
                <a:latin typeface="Meiryo"/>
              </a:rPr>
              <a:t>gitBranch と cwd があるので「どのブランチ作業に何トークン使ったか」まで割り出せます。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1828800"/>
            <a:ext cx="3291840" cy="3291840"/>
          </a:xfrm>
          <a:prstGeom prst="ellipse">
            <a:avLst/>
          </a:prstGeom>
          <a:solidFill>
            <a:srgbClr val="D9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A8A92"/>
                </a:solidFill>
                <a:latin typeface="Consolas"/>
              </a:rPr>
              <a:t>CC-LOG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55664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A8A92"/>
                </a:solidFill>
                <a:latin typeface="Consolas"/>
              </a:rPr>
              <a:t>STEP 4 — CONVERSATION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2B8A6"/>
                </a:solidFill>
                <a:latin typeface="Consolas"/>
              </a:rPr>
              <a:t>05 / STEP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000" b="1">
                <a:solidFill>
                  <a:srgbClr val="17212B"/>
                </a:solidFill>
                <a:latin typeface="Meiryo"/>
              </a:rPr>
              <a:t>会話ツリーを復元する — parentUuid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42515B"/>
                </a:solidFill>
                <a:latin typeface="Meiryo"/>
              </a:rPr>
              <a:t>各レコードは parentUuid で直前のレコードを指す連結リスト（分岐すると木）。これを辿ると会話の実際の流れが再現できます。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1905609" cy="868680"/>
          </a:xfrm>
          <a:prstGeom prst="roundRect">
            <a:avLst/>
          </a:prstGeom>
          <a:solidFill>
            <a:srgbClr val="E8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7212B"/>
                </a:solidFill>
                <a:latin typeface="Meiryo"/>
              </a:rPr>
              <a:t>user</a:t>
            </a:r>
          </a:p>
          <a:p>
            <a:pPr algn="ctr"/>
            <a:r>
              <a:rPr sz="1000">
                <a:solidFill>
                  <a:srgbClr val="4C6A68"/>
                </a:solidFill>
                <a:latin typeface="Consolas"/>
              </a:rPr>
              <a:t>prompt (parent=null)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0825" y="2244852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2563EB"/>
                </a:solidFill>
                <a:latin typeface="Meiryo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8297" y="2011680"/>
            <a:ext cx="1905609" cy="868680"/>
          </a:xfrm>
          <a:prstGeom prst="roundRect">
            <a:avLst/>
          </a:prstGeom>
          <a:solidFill>
            <a:srgbClr val="E8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7212B"/>
                </a:solidFill>
                <a:latin typeface="Meiryo"/>
              </a:rPr>
              <a:t>assistant</a:t>
            </a:r>
          </a:p>
          <a:p>
            <a:pPr algn="ctr"/>
            <a:r>
              <a:rPr sz="1000">
                <a:solidFill>
                  <a:srgbClr val="4C6A68"/>
                </a:solidFill>
                <a:latin typeface="Consolas"/>
              </a:rPr>
              <a:t>thinking /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0483" y="2244852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2563EB"/>
                </a:solidFill>
                <a:latin typeface="Meiryo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7955" y="2011680"/>
            <a:ext cx="1905609" cy="868680"/>
          </a:xfrm>
          <a:prstGeom prst="roundRect">
            <a:avLst/>
          </a:prstGeom>
          <a:solidFill>
            <a:srgbClr val="E8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7212B"/>
                </a:solidFill>
                <a:latin typeface="Meiryo"/>
              </a:rPr>
              <a:t>assistant</a:t>
            </a:r>
          </a:p>
          <a:p>
            <a:pPr algn="ctr"/>
            <a:r>
              <a:rPr sz="1000">
                <a:solidFill>
                  <a:srgbClr val="4C6A68"/>
                </a:solidFill>
                <a:latin typeface="Consolas"/>
              </a:rPr>
              <a:t>tool_use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0140" y="2244852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2563EB"/>
                </a:solidFill>
                <a:latin typeface="Meiryo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17612" y="2011680"/>
            <a:ext cx="1905609" cy="868680"/>
          </a:xfrm>
          <a:prstGeom prst="roundRect">
            <a:avLst/>
          </a:prstGeom>
          <a:solidFill>
            <a:srgbClr val="E8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7212B"/>
                </a:solidFill>
                <a:latin typeface="Meiryo"/>
              </a:rPr>
              <a:t>user</a:t>
            </a:r>
          </a:p>
          <a:p>
            <a:pPr algn="ctr"/>
            <a:r>
              <a:rPr sz="1000">
                <a:solidFill>
                  <a:srgbClr val="4C6A68"/>
                </a:solidFill>
                <a:latin typeface="Consolas"/>
              </a:rPr>
              <a:t>tool_result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59798" y="2244852"/>
            <a:ext cx="384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2563EB"/>
                </a:solidFill>
                <a:latin typeface="Meiryo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07270" y="2011680"/>
            <a:ext cx="1905609" cy="868680"/>
          </a:xfrm>
          <a:prstGeom prst="roundRect">
            <a:avLst/>
          </a:prstGeom>
          <a:solidFill>
            <a:srgbClr val="E8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7212B"/>
                </a:solidFill>
                <a:latin typeface="Meiryo"/>
              </a:rPr>
              <a:t>assistant</a:t>
            </a:r>
          </a:p>
          <a:p>
            <a:pPr algn="ctr"/>
            <a:r>
              <a:rPr sz="1000">
                <a:solidFill>
                  <a:srgbClr val="4C6A68"/>
                </a:solidFill>
                <a:latin typeface="Consolas"/>
              </a:rPr>
              <a:t>text = 最終回答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54680"/>
            <a:ext cx="11064240" cy="2103120"/>
          </a:xfrm>
          <a:prstGeom prst="roundRect">
            <a:avLst/>
          </a:prstGeom>
          <a:solidFill>
            <a:srgbClr val="12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lnSpc>
                <a:spcPct val="118000"/>
              </a:lnSpc>
            </a:pPr>
            <a:r>
              <a:rPr sz="1100">
                <a:solidFill>
                  <a:srgbClr val="87D8FF"/>
                </a:solidFill>
                <a:latin typeface="Consolas"/>
              </a:rPr>
              <a:t>import</a:t>
            </a:r>
            <a:r>
              <a:rPr sz="1100">
                <a:solidFill>
                  <a:srgbClr val="D7E7EF"/>
                </a:solidFill>
                <a:latin typeface="Consolas"/>
              </a:rPr>
              <a:t> json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nodes = {}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87D8FF"/>
                </a:solidFill>
                <a:latin typeface="Consolas"/>
              </a:rPr>
              <a:t>with</a:t>
            </a:r>
            <a:r>
              <a:rPr sz="1100">
                <a:solidFill>
                  <a:srgbClr val="D7E7EF"/>
                </a:solidFill>
                <a:latin typeface="Consolas"/>
              </a:rPr>
              <a:t> open(path) </a:t>
            </a:r>
            <a:r>
              <a:rPr sz="1100">
                <a:solidFill>
                  <a:srgbClr val="87D8FF"/>
                </a:solidFill>
                <a:latin typeface="Consolas"/>
              </a:rPr>
              <a:t>as</a:t>
            </a:r>
            <a:r>
              <a:rPr sz="1100">
                <a:solidFill>
                  <a:srgbClr val="D7E7EF"/>
                </a:solidFill>
                <a:latin typeface="Consolas"/>
              </a:rPr>
              <a:t> f: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87D8FF"/>
                </a:solidFill>
                <a:latin typeface="Consolas"/>
              </a:rPr>
              <a:t>    for</a:t>
            </a:r>
            <a:r>
              <a:rPr sz="1100">
                <a:solidFill>
                  <a:srgbClr val="D7E7EF"/>
                </a:solidFill>
                <a:latin typeface="Consolas"/>
              </a:rPr>
              <a:t> line </a:t>
            </a:r>
            <a:r>
              <a:rPr sz="1100">
                <a:solidFill>
                  <a:srgbClr val="87D8FF"/>
                </a:solidFill>
                <a:latin typeface="Consolas"/>
              </a:rPr>
              <a:t>in</a:t>
            </a:r>
            <a:r>
              <a:rPr sz="1100">
                <a:solidFill>
                  <a:srgbClr val="D7E7EF"/>
                </a:solidFill>
                <a:latin typeface="Consolas"/>
              </a:rPr>
              <a:t> f: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        d = json.loads(line)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87D8FF"/>
                </a:solidFill>
                <a:latin typeface="Consolas"/>
              </a:rPr>
              <a:t>        if</a:t>
            </a:r>
            <a:r>
              <a:rPr sz="1100">
                <a:solidFill>
                  <a:srgbClr val="D7E7EF"/>
                </a:solidFill>
                <a:latin typeface="Consolas"/>
              </a:rPr>
              <a:t> 'uuid' </a:t>
            </a:r>
            <a:r>
              <a:rPr sz="1100">
                <a:solidFill>
                  <a:srgbClr val="87D8FF"/>
                </a:solidFill>
                <a:latin typeface="Consolas"/>
              </a:rPr>
              <a:t>in</a:t>
            </a:r>
            <a:r>
              <a:rPr sz="1100">
                <a:solidFill>
                  <a:srgbClr val="D7E7EF"/>
                </a:solidFill>
                <a:latin typeface="Consolas"/>
              </a:rPr>
              <a:t> d: nodes[d['uuid']] = d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87D8FF"/>
                </a:solidFill>
                <a:latin typeface="Consolas"/>
              </a:rPr>
              <a:t>def</a:t>
            </a:r>
            <a:r>
              <a:rPr sz="1100">
                <a:solidFill>
                  <a:srgbClr val="D7E7EF"/>
                </a:solidFill>
                <a:latin typeface="Consolas"/>
              </a:rPr>
              <a:t> chain(leaf):  </a:t>
            </a:r>
            <a:r>
              <a:rPr sz="1100">
                <a:solidFill>
                  <a:srgbClr val="8298A8"/>
                </a:solidFill>
                <a:latin typeface="Consolas"/>
              </a:rPr>
              <a:t># 葉から根まで遡る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87D8FF"/>
                </a:solidFill>
                <a:latin typeface="Consolas"/>
              </a:rPr>
              <a:t>    while</a:t>
            </a:r>
            <a:r>
              <a:rPr sz="1100">
                <a:solidFill>
                  <a:srgbClr val="D7E7EF"/>
                </a:solidFill>
                <a:latin typeface="Consolas"/>
              </a:rPr>
              <a:t> leaf: </a:t>
            </a:r>
            <a:r>
              <a:rPr sz="1100">
                <a:solidFill>
                  <a:srgbClr val="87D8FF"/>
                </a:solidFill>
                <a:latin typeface="Consolas"/>
              </a:rPr>
              <a:t>yield</a:t>
            </a:r>
            <a:r>
              <a:rPr sz="1100">
                <a:solidFill>
                  <a:srgbClr val="D7E7EF"/>
                </a:solidFill>
                <a:latin typeface="Consolas"/>
              </a:rPr>
              <a:t> leaf; leaf = nodes.get(leaf.get('parentUuid') </a:t>
            </a:r>
            <a:r>
              <a:rPr sz="1100">
                <a:solidFill>
                  <a:srgbClr val="87D8FF"/>
                </a:solidFill>
                <a:latin typeface="Consolas"/>
              </a:rPr>
              <a:t>or</a:t>
            </a:r>
            <a:r>
              <a:rPr sz="1100">
                <a:solidFill>
                  <a:srgbClr val="D7E7EF"/>
                </a:solidFill>
                <a:latin typeface="Consolas"/>
              </a:rPr>
              <a:t> '')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532120"/>
            <a:ext cx="64008" cy="685800"/>
          </a:xfrm>
          <a:prstGeom prst="rect">
            <a:avLst/>
          </a:prstGeom>
          <a:solidFill>
            <a:srgbClr val="FFD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7" y="5532120"/>
            <a:ext cx="11000232" cy="685800"/>
          </a:xfrm>
          <a:prstGeom prst="rect">
            <a:avLst/>
          </a:prstGeom>
          <a:solidFill>
            <a:srgbClr val="FFF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82296"/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17212B"/>
                </a:solidFill>
                <a:latin typeface="Meiryo"/>
              </a:rPr>
              <a:t>sidechain：</a:t>
            </a:r>
            <a:r>
              <a:rPr sz="1200">
                <a:solidFill>
                  <a:srgbClr val="4A4420"/>
                </a:solidFill>
                <a:latin typeface="Meiryo"/>
              </a:rPr>
              <a:t>isSidechain: true の系列はサブエージェント（Task/Agent）の独立した会話。本流と分けて集計すると「委譲した仕事量」が測れます。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1828800"/>
            <a:ext cx="3291840" cy="3291840"/>
          </a:xfrm>
          <a:prstGeom prst="ellipse">
            <a:avLst/>
          </a:prstGeom>
          <a:solidFill>
            <a:srgbClr val="D9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A8A92"/>
                </a:solidFill>
                <a:latin typeface="Consolas"/>
              </a:rPr>
              <a:t>CC-LOG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55664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A8A92"/>
                </a:solidFill>
                <a:latin typeface="Consolas"/>
              </a:rPr>
              <a:t>STEP 5 —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2B8A6"/>
                </a:solidFill>
                <a:latin typeface="Consolas"/>
              </a:rPr>
              <a:t>06 / STEP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000" b="1">
                <a:solidFill>
                  <a:srgbClr val="17212B"/>
                </a:solidFill>
                <a:latin typeface="Meiryo"/>
              </a:rPr>
              <a:t>ユーザープロンプトを抽出する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42515B"/>
                </a:solidFill>
                <a:latin typeface="Meiryo"/>
              </a:rPr>
              <a:t>「人間が何を頼んだか」は分析の出発点。type=user のうち content が文字列のものが人間の入力、配列のものはツール結果なので除外します。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11064240" cy="1600200"/>
          </a:xfrm>
          <a:prstGeom prst="roundRect">
            <a:avLst/>
          </a:prstGeom>
          <a:solidFill>
            <a:srgbClr val="12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lnSpc>
                <a:spcPct val="118000"/>
              </a:lnSpc>
            </a:pPr>
            <a:r>
              <a:rPr sz="1100">
                <a:solidFill>
                  <a:srgbClr val="8298A8"/>
                </a:solidFill>
                <a:latin typeface="Consolas"/>
              </a:rPr>
              <a:t># 人間のプロンプトだけを時刻付きで抽出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jq -r 'select(.type=="user" and (.message.content|type)=="string")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       | [.timestamp, .message.content] | @tsv' *.jsonl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8298A8"/>
                </a:solidFill>
                <a:latin typeface="Consolas"/>
              </a:rPr>
              <a:t># 全プロジェクト横断ならこちら（入力履歴）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jq -r '.display' ~/.claude/history.jsonl | head -50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86200"/>
            <a:ext cx="5394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28016" bIns="91440"/>
          <a:lstStyle/>
          <a:p>
            <a:pPr algn="ctr"/>
            <a:r>
              <a:rPr sz="1400" b="1">
                <a:solidFill>
                  <a:srgbClr val="17212B"/>
                </a:solidFill>
                <a:latin typeface="Meiryo"/>
              </a:rPr>
              <a:t>ここで分かること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12B8A6"/>
                </a:solidFill>
                <a:latin typeface="Meiryo"/>
              </a:rPr>
              <a:t>✓ </a:t>
            </a:r>
            <a:r>
              <a:rPr sz="1200">
                <a:solidFill>
                  <a:srgbClr val="485660"/>
                </a:solidFill>
                <a:latin typeface="Meiryo"/>
              </a:rPr>
              <a:t>依頼の種類（実装 / 調査 / 修正 / 質問）の割合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12B8A6"/>
                </a:solidFill>
                <a:latin typeface="Meiryo"/>
              </a:rPr>
              <a:t>✓ </a:t>
            </a:r>
            <a:r>
              <a:rPr sz="1200">
                <a:solidFill>
                  <a:srgbClr val="485660"/>
                </a:solidFill>
                <a:latin typeface="Meiryo"/>
              </a:rPr>
              <a:t>1セッションあたりの指示回数 ＝ 往復数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12B8A6"/>
                </a:solidFill>
                <a:latin typeface="Meiryo"/>
              </a:rPr>
              <a:t>✓ </a:t>
            </a:r>
            <a:r>
              <a:rPr sz="1200">
                <a:solidFill>
                  <a:srgbClr val="485660"/>
                </a:solidFill>
                <a:latin typeface="Meiryo"/>
              </a:rPr>
              <a:t>プロンプトの長さと成果の関係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86200"/>
            <a:ext cx="53949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28016" bIns="91440"/>
          <a:lstStyle/>
          <a:p>
            <a:pPr algn="ctr"/>
            <a:r>
              <a:rPr sz="1400" b="1">
                <a:solidFill>
                  <a:srgbClr val="17212B"/>
                </a:solidFill>
                <a:latin typeface="Meiryo"/>
              </a:rPr>
              <a:t>ワンランク上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485660"/>
                </a:solidFill>
                <a:latin typeface="Meiryo"/>
              </a:rPr>
              <a:t/>
            </a:r>
            <a:r>
              <a:rPr sz="1200">
                <a:solidFill>
                  <a:srgbClr val="485660"/>
                </a:solidFill>
                <a:latin typeface="Meiryo"/>
              </a:rPr>
              <a:t>抽出したプロンプトを Claude に分類させる（「このプロンプト集を用途別にタグ付けして」）と、自分の使い方の癖が定量化できます。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1828800"/>
            <a:ext cx="3291840" cy="3291840"/>
          </a:xfrm>
          <a:prstGeom prst="ellipse">
            <a:avLst/>
          </a:prstGeom>
          <a:solidFill>
            <a:srgbClr val="D9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A8A92"/>
                </a:solidFill>
                <a:latin typeface="Consolas"/>
              </a:rPr>
              <a:t>CC-LOG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55664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A8A92"/>
                </a:solidFill>
                <a:latin typeface="Consolas"/>
              </a:rPr>
              <a:t>STEP 6 —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2B8A6"/>
                </a:solidFill>
                <a:latin typeface="Consolas"/>
              </a:rPr>
              <a:t>07 / STEP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000" b="1">
                <a:solidFill>
                  <a:srgbClr val="17212B"/>
                </a:solidFill>
                <a:latin typeface="Meiryo"/>
              </a:rPr>
              <a:t>ツール使用を分析する — tool_use と tool_result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42515B"/>
                </a:solidFill>
                <a:latin typeface="Meiryo"/>
              </a:rPr>
              <a:t>assistant の tool_use（name / input / id）と、user 側の tool_result（同じ tool_use_id）をペアにすると Claude の「行動ログ」になります。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11064240" cy="1965960"/>
          </a:xfrm>
          <a:prstGeom prst="roundRect">
            <a:avLst/>
          </a:prstGeom>
          <a:solidFill>
            <a:srgbClr val="12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lnSpc>
                <a:spcPct val="118000"/>
              </a:lnSpc>
            </a:pPr>
            <a:r>
              <a:rPr sz="1100">
                <a:solidFill>
                  <a:srgbClr val="8298A8"/>
                </a:solidFill>
                <a:latin typeface="Consolas"/>
              </a:rPr>
              <a:t># ツール別の使用回数ランキング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jq -r 'select(.type=="assistant") | .message.content[]?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       | select(.type=="tool_use") | .name' *.jsonl | sort | uniq -c | sort -rn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8298A8"/>
                </a:solidFill>
                <a:latin typeface="Consolas"/>
              </a:rPr>
              <a:t># Bash で実行されたコマンドの傾向（先頭単語）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jq -r '… select(.type=="tool_use" and .name=="Bash") | .input.command' *.jsonl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  | awk '{print $1}' | sort | uniq -c | sort -rn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51960"/>
            <a:ext cx="3566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28016" bIns="91440"/>
          <a:lstStyle/>
          <a:p>
            <a:pPr algn="ctr"/>
            <a:r>
              <a:rPr sz="1400" b="1">
                <a:solidFill>
                  <a:srgbClr val="17212B"/>
                </a:solidFill>
                <a:latin typeface="Meiryo"/>
              </a:rPr>
              <a:t>行動の内訳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485660"/>
                </a:solidFill>
                <a:latin typeface="Meiryo"/>
              </a:rPr>
              <a:t/>
            </a:r>
            <a:r>
              <a:rPr sz="1200">
                <a:solidFill>
                  <a:srgbClr val="485660"/>
                </a:solidFill>
                <a:latin typeface="Meiryo"/>
              </a:rPr>
              <a:t>Read / Edit / Write / Bash / Grep… の比率で「読む仕事か書く仕事か」が見える。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251960"/>
            <a:ext cx="3566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28016" bIns="91440"/>
          <a:lstStyle/>
          <a:p>
            <a:pPr algn="ctr"/>
            <a:r>
              <a:rPr sz="1400" b="1">
                <a:solidFill>
                  <a:srgbClr val="17212B"/>
                </a:solidFill>
                <a:latin typeface="Meiryo"/>
              </a:rPr>
              <a:t>触ったファイル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485660"/>
                </a:solidFill>
                <a:latin typeface="Meiryo"/>
              </a:rPr>
              <a:t/>
            </a:r>
            <a:r>
              <a:rPr sz="1200">
                <a:solidFill>
                  <a:srgbClr val="485660"/>
                </a:solidFill>
                <a:latin typeface="Meiryo"/>
              </a:rPr>
              <a:t>input.file_path を集計すればホットスポットのファイルが特定できる。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251960"/>
            <a:ext cx="35661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28016" bIns="91440"/>
          <a:lstStyle/>
          <a:p>
            <a:pPr algn="ctr"/>
            <a:r>
              <a:rPr sz="1400" b="1">
                <a:solidFill>
                  <a:srgbClr val="17212B"/>
                </a:solidFill>
                <a:latin typeface="Meiryo"/>
              </a:rPr>
              <a:t>実行結果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485660"/>
                </a:solidFill>
                <a:latin typeface="Meiryo"/>
              </a:rPr>
              <a:t/>
            </a:r>
            <a:r>
              <a:rPr sz="1200">
                <a:solidFill>
                  <a:srgbClr val="485660"/>
                </a:solidFill>
                <a:latin typeface="Meiryo"/>
              </a:rPr>
              <a:t>toolUseResult の stdout / stderr / interrupted で成否と中断を判定。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1828800"/>
            <a:ext cx="3291840" cy="3291840"/>
          </a:xfrm>
          <a:prstGeom prst="ellipse">
            <a:avLst/>
          </a:prstGeom>
          <a:solidFill>
            <a:srgbClr val="D9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A8A92"/>
                </a:solidFill>
                <a:latin typeface="Consolas"/>
              </a:rPr>
              <a:t>CC-LOG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55664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A8A92"/>
                </a:solidFill>
                <a:latin typeface="Consolas"/>
              </a:rPr>
              <a:t>STEP 7 — TOKENS &amp;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2B8A6"/>
                </a:solidFill>
                <a:latin typeface="Consolas"/>
              </a:rPr>
              <a:t>08 / STEP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000" b="1">
                <a:solidFill>
                  <a:srgbClr val="17212B"/>
                </a:solidFill>
                <a:latin typeface="Meiryo"/>
              </a:rPr>
              <a:t>トークンとコストを算出する — usage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42515B"/>
                </a:solidFill>
                <a:latin typeface="Meiryo"/>
              </a:rPr>
              <a:t>assistant レコードの message.usage に API と同じ粒度のトークン内訳が毎回記録されています。model と掛け合わせれば概算コストが出せます。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5394960" cy="2377440"/>
          </a:xfrm>
          <a:prstGeom prst="roundRect">
            <a:avLst/>
          </a:prstGeom>
          <a:solidFill>
            <a:srgbClr val="12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"usage": {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87D8FF"/>
                </a:solidFill>
                <a:latin typeface="Consolas"/>
              </a:rPr>
              <a:t>  "input_tokens": 2,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87D8FF"/>
                </a:solidFill>
                <a:latin typeface="Consolas"/>
              </a:rPr>
              <a:t>  "output_tokens": 410,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  "cache_creation_input_tokens": 39732,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  "cache_read_input_tokens": 0,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  "cache_creation": {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    "ephemeral_1h_input_tokens": 39732,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    "ephemeral_5m_input_tokens": 0 },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  "service_tier": "standard"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394960" cy="2377440"/>
          </a:xfrm>
          <a:prstGeom prst="roundRect">
            <a:avLst/>
          </a:prstGeom>
          <a:solidFill>
            <a:srgbClr val="12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lnSpc>
                <a:spcPct val="118000"/>
              </a:lnSpc>
            </a:pPr>
            <a:r>
              <a:rPr sz="1050">
                <a:solidFill>
                  <a:srgbClr val="8298A8"/>
                </a:solidFill>
                <a:latin typeface="Consolas"/>
              </a:rPr>
              <a:t># セッション合計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jq -s '[.[] | select(.type=="assistant")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        | .message.usage]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  | { in:  (map(.input_tokens)|add),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      out: (map(.output_tokens)|add),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      cache_w: (map(.cache_creation_input_tokens)|add),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      cache_r: (map(.cache_read_input_tokens)|add) }' \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  &lt;session-id&gt;.jsonl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10642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28016" bIns="91440"/>
          <a:lstStyle/>
          <a:p>
            <a:pPr algn="ctr"/>
            <a:r>
              <a:rPr sz="1400" b="1">
                <a:solidFill>
                  <a:srgbClr val="17212B"/>
                </a:solidFill>
                <a:latin typeface="Meiryo"/>
              </a:rPr>
              <a:t>掛け合わせ分析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12B8A6"/>
                </a:solidFill>
                <a:latin typeface="Meiryo"/>
              </a:rPr>
              <a:t>✓ </a:t>
            </a:r>
            <a:r>
              <a:rPr sz="1200">
                <a:solidFill>
                  <a:srgbClr val="485660"/>
                </a:solidFill>
                <a:latin typeface="Meiryo"/>
              </a:rPr>
              <a:t>モデル別（.message.model）に分けて単価を掛ければコスト概算／cache_read ÷ (input+cache_read) でキャッシュヒット率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12B8A6"/>
                </a:solidFill>
                <a:latin typeface="Meiryo"/>
              </a:rPr>
              <a:t>✓ </a:t>
            </a:r>
            <a:r>
              <a:rPr sz="1200">
                <a:solidFill>
                  <a:srgbClr val="485660"/>
                </a:solidFill>
                <a:latin typeface="Meiryo"/>
              </a:rPr>
              <a:t>ブランチ・プロジェクト別に集計すれば「この機能開発に幾らかかったか」まで分かる。近道: npx ccusage が日別・モデル別レポートを自動生成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1828800"/>
            <a:ext cx="3291840" cy="3291840"/>
          </a:xfrm>
          <a:prstGeom prst="ellipse">
            <a:avLst/>
          </a:prstGeom>
          <a:solidFill>
            <a:srgbClr val="D9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A8A92"/>
                </a:solidFill>
                <a:latin typeface="Consolas"/>
              </a:rPr>
              <a:t>CC-LOG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55664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A8A92"/>
                </a:solidFill>
                <a:latin typeface="Consolas"/>
              </a:rPr>
              <a:t>STEP 8 —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2B8A6"/>
                </a:solidFill>
                <a:latin typeface="Consolas"/>
              </a:rPr>
              <a:t>09 / STEP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000" b="1">
                <a:solidFill>
                  <a:srgbClr val="17212B"/>
                </a:solidFill>
                <a:latin typeface="Meiryo"/>
              </a:rPr>
              <a:t>時間を分析する — timestamp の差分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42515B"/>
                </a:solidFill>
                <a:latin typeface="Meiryo"/>
              </a:rPr>
              <a:t>全レコードにミリ秒精度のタイムスタンプがあるので、差分を取るだけで応答速度・作業時間・活動パターンが数値化できます。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35661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28016" bIns="91440"/>
          <a:lstStyle/>
          <a:p>
            <a:pPr algn="ctr"/>
            <a:r>
              <a:rPr sz="1400" b="1">
                <a:solidFill>
                  <a:srgbClr val="17212B"/>
                </a:solidFill>
                <a:latin typeface="Meiryo"/>
              </a:rPr>
              <a:t>応答レイテンシ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485660"/>
                </a:solidFill>
                <a:latin typeface="Meiryo"/>
              </a:rPr>
              <a:t/>
            </a:r>
            <a:r>
              <a:rPr sz="1200">
                <a:solidFill>
                  <a:srgbClr val="485660"/>
                </a:solidFill>
                <a:latin typeface="Meiryo"/>
              </a:rPr>
              <a:t>ユーザープロンプト → 直後の assistant レコードの時刻差。ターンごとの「待ち時間」。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965960"/>
            <a:ext cx="35661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28016" bIns="91440"/>
          <a:lstStyle/>
          <a:p>
            <a:pPr algn="ctr"/>
            <a:r>
              <a:rPr sz="1400" b="1">
                <a:solidFill>
                  <a:srgbClr val="17212B"/>
                </a:solidFill>
                <a:latin typeface="Meiryo"/>
              </a:rPr>
              <a:t>ツール実行時間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485660"/>
                </a:solidFill>
                <a:latin typeface="Meiryo"/>
              </a:rPr>
              <a:t/>
            </a:r>
            <a:r>
              <a:rPr sz="1200">
                <a:solidFill>
                  <a:srgbClr val="485660"/>
                </a:solidFill>
                <a:latin typeface="Meiryo"/>
              </a:rPr>
              <a:t>tool_use → 対応する tool_result の時刻差。重いビルドやテストが特定できる。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965960"/>
            <a:ext cx="356616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28016" bIns="91440"/>
          <a:lstStyle/>
          <a:p>
            <a:pPr algn="ctr"/>
            <a:r>
              <a:rPr sz="1400" b="1">
                <a:solidFill>
                  <a:srgbClr val="17212B"/>
                </a:solidFill>
                <a:latin typeface="Meiryo"/>
              </a:rPr>
              <a:t>セッション時間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485660"/>
                </a:solidFill>
                <a:latin typeface="Meiryo"/>
              </a:rPr>
              <a:t/>
            </a:r>
            <a:r>
              <a:rPr sz="1200">
                <a:solidFill>
                  <a:srgbClr val="485660"/>
                </a:solidFill>
                <a:latin typeface="Meiryo"/>
              </a:rPr>
              <a:t>最初と最後のレコードの差。日別・時間帯別に並べれば利用ヒートマップに。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11064240" cy="2148840"/>
          </a:xfrm>
          <a:prstGeom prst="roundRect">
            <a:avLst/>
          </a:prstGeom>
          <a:solidFill>
            <a:srgbClr val="12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lnSpc>
                <a:spcPct val="118000"/>
              </a:lnSpc>
            </a:pPr>
            <a:r>
              <a:rPr sz="1100">
                <a:solidFill>
                  <a:srgbClr val="87D8FF"/>
                </a:solidFill>
                <a:latin typeface="Consolas"/>
              </a:rPr>
              <a:t>import</a:t>
            </a:r>
            <a:r>
              <a:rPr sz="1100">
                <a:solidFill>
                  <a:srgbClr val="D7E7EF"/>
                </a:solidFill>
                <a:latin typeface="Consolas"/>
              </a:rPr>
              <a:t> json, pandas </a:t>
            </a:r>
            <a:r>
              <a:rPr sz="1100">
                <a:solidFill>
                  <a:srgbClr val="87D8FF"/>
                </a:solidFill>
                <a:latin typeface="Consolas"/>
              </a:rPr>
              <a:t>as</a:t>
            </a:r>
            <a:r>
              <a:rPr sz="1100">
                <a:solidFill>
                  <a:srgbClr val="D7E7EF"/>
                </a:solidFill>
                <a:latin typeface="Consolas"/>
              </a:rPr>
              <a:t> pd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rows = [json.loads(l) </a:t>
            </a:r>
            <a:r>
              <a:rPr sz="1100">
                <a:solidFill>
                  <a:srgbClr val="87D8FF"/>
                </a:solidFill>
                <a:latin typeface="Consolas"/>
              </a:rPr>
              <a:t>for</a:t>
            </a:r>
            <a:r>
              <a:rPr sz="1100">
                <a:solidFill>
                  <a:srgbClr val="D7E7EF"/>
                </a:solidFill>
                <a:latin typeface="Consolas"/>
              </a:rPr>
              <a:t> l </a:t>
            </a:r>
            <a:r>
              <a:rPr sz="1100">
                <a:solidFill>
                  <a:srgbClr val="87D8FF"/>
                </a:solidFill>
                <a:latin typeface="Consolas"/>
              </a:rPr>
              <a:t>in</a:t>
            </a:r>
            <a:r>
              <a:rPr sz="1100">
                <a:solidFill>
                  <a:srgbClr val="D7E7EF"/>
                </a:solidFill>
                <a:latin typeface="Consolas"/>
              </a:rPr>
              <a:t> open(path)]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df = pd.DataFrame([r for r in rows if 'timestamp' in r])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df['ts'] = pd.to_datetime(df['timestamp'])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df['gap'] = df['ts'].diff()          </a:t>
            </a:r>
            <a:r>
              <a:rPr sz="1100">
                <a:solidFill>
                  <a:srgbClr val="8298A8"/>
                </a:solidFill>
                <a:latin typeface="Consolas"/>
              </a:rPr>
              <a:t># レコード間隔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df.groupby(df['ts'].dt.hour).size()   </a:t>
            </a:r>
            <a:r>
              <a:rPr sz="1100">
                <a:solidFill>
                  <a:srgbClr val="8298A8"/>
                </a:solidFill>
                <a:latin typeface="Consolas"/>
              </a:rPr>
              <a:t># 時間帯別アクティビティ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1828800"/>
            <a:ext cx="3291840" cy="3291840"/>
          </a:xfrm>
          <a:prstGeom prst="ellipse">
            <a:avLst/>
          </a:prstGeom>
          <a:solidFill>
            <a:srgbClr val="D9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A8A92"/>
                </a:solidFill>
                <a:latin typeface="Consolas"/>
              </a:rPr>
              <a:t>CC-LOG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55664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A8A92"/>
                </a:solidFill>
                <a:latin typeface="Consolas"/>
              </a:rPr>
              <a:t>STEP 9 — ERRORS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2B8A6"/>
                </a:solidFill>
                <a:latin typeface="Consolas"/>
              </a:rPr>
              <a:t>10 / STEP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000" b="1">
                <a:solidFill>
                  <a:srgbClr val="17212B"/>
                </a:solidFill>
                <a:latin typeface="Meiryo"/>
              </a:rPr>
              <a:t>エラーと中断を洗い出す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42515B"/>
                </a:solidFill>
                <a:latin typeface="Meiryo"/>
              </a:rPr>
              <a:t>失敗パターンの分析は改善効果が最も大きい部分。ログには失敗のシグナルが複数の場所に残ります。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920240"/>
          <a:ext cx="11064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657600"/>
                <a:gridCol w="502920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7212B"/>
                          </a:solidFill>
                          <a:latin typeface="Meiryo"/>
                        </a:rPr>
                        <a:t>シグナル</a:t>
                      </a:r>
                    </a:p>
                  </a:txBody>
                  <a:tcPr marL="73152" marR="54864" marT="27432" marB="27432">
                    <a:solidFill>
                      <a:srgbClr val="E8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7212B"/>
                          </a:solidFill>
                          <a:latin typeface="Meiryo"/>
                        </a:rPr>
                        <a:t>場所</a:t>
                      </a:r>
                    </a:p>
                  </a:txBody>
                  <a:tcPr marL="73152" marR="54864" marT="27432" marB="27432">
                    <a:solidFill>
                      <a:srgbClr val="E8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7212B"/>
                          </a:solidFill>
                          <a:latin typeface="Meiryo"/>
                        </a:rPr>
                        <a:t>意味</a:t>
                      </a:r>
                    </a:p>
                  </a:txBody>
                  <a:tcPr marL="73152" marR="54864" marT="27432" marB="27432">
                    <a:solidFill>
                      <a:srgbClr val="E8F6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is_error: true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user レコードの tool_result ブロック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ツール呼び出しがエラーを返した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stderr が非空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toolUseResult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コマンドは動いたが警告 / エラー出力あり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interrupted: true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toolUseResult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ユーザーが実行を中断した（信頼のシグナル）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stop_reason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assistant の message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tool_use / end_turn など応答の終わり方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権限拒否の文言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tool_result の本文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許可プロンプトで拒否された操作の傾向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4434840"/>
            <a:ext cx="11064240" cy="914400"/>
          </a:xfrm>
          <a:prstGeom prst="roundRect">
            <a:avLst/>
          </a:prstGeom>
          <a:solidFill>
            <a:srgbClr val="12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lnSpc>
                <a:spcPct val="118000"/>
              </a:lnSpc>
            </a:pPr>
            <a:r>
              <a:rPr sz="1100">
                <a:solidFill>
                  <a:srgbClr val="8298A8"/>
                </a:solidFill>
                <a:latin typeface="Consolas"/>
              </a:rPr>
              <a:t># エラーになったツール呼び出しの数</a:t>
            </a:r>
          </a:p>
          <a:p>
            <a:pPr>
              <a:lnSpc>
                <a:spcPct val="118000"/>
              </a:lnSpc>
            </a:pPr>
            <a:r>
              <a:rPr sz="1100">
                <a:solidFill>
                  <a:srgbClr val="D7E7EF"/>
                </a:solidFill>
                <a:latin typeface="Consolas"/>
              </a:rPr>
              <a:t>jq '[select(.type=="user") | .message.content[]? | select(.type=="tool_result" and .is_error==true)] | length' *.jsonl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64008" cy="685800"/>
          </a:xfrm>
          <a:prstGeom prst="rect">
            <a:avLst/>
          </a:prstGeom>
          <a:solidFill>
            <a:srgbClr val="FFD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7" y="5577840"/>
            <a:ext cx="11000232" cy="685800"/>
          </a:xfrm>
          <a:prstGeom prst="rect">
            <a:avLst/>
          </a:prstGeom>
          <a:solidFill>
            <a:srgbClr val="FFF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82296"/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17212B"/>
                </a:solidFill>
                <a:latin typeface="Meiryo"/>
              </a:rPr>
              <a:t>使い方：</a:t>
            </a:r>
            <a:r>
              <a:rPr sz="1200">
                <a:solidFill>
                  <a:srgbClr val="4A4420"/>
                </a:solidFill>
                <a:latin typeface="Meiryo"/>
              </a:rPr>
              <a:t>「エラー率の高いツール×コマンド」を出すと、CLAUDE.md に書くべき注意書きが自動的に決まります。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1828800"/>
            <a:ext cx="3291840" cy="3291840"/>
          </a:xfrm>
          <a:prstGeom prst="ellipse">
            <a:avLst/>
          </a:prstGeom>
          <a:solidFill>
            <a:srgbClr val="D9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A8A92"/>
                </a:solidFill>
                <a:latin typeface="Consolas"/>
              </a:rPr>
              <a:t>CC-LOG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55664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A8A92"/>
                </a:solidFill>
                <a:latin typeface="Consolas"/>
              </a:rPr>
              <a:t>STEP 10 — VISUALIZE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2B8A6"/>
                </a:solidFill>
                <a:latin typeface="Consolas"/>
              </a:rPr>
              <a:t>11 / STEP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000" b="1">
                <a:solidFill>
                  <a:srgbClr val="17212B"/>
                </a:solidFill>
                <a:latin typeface="Meiryo"/>
              </a:rPr>
              <a:t>可視化して1枚のレポートにする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42515B"/>
                </a:solidFill>
                <a:latin typeface="Meiryo"/>
              </a:rPr>
              <a:t>ここまでの集計を pandas に集めれば、あとは好きな形で出力するだけ。まずは4枚のチャートから始めるのがおすすめです。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50292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28016" bIns="91440"/>
          <a:lstStyle/>
          <a:p>
            <a:pPr algn="ctr"/>
            <a:r>
              <a:rPr sz="1400" b="1">
                <a:solidFill>
                  <a:srgbClr val="17212B"/>
                </a:solidFill>
                <a:latin typeface="Meiryo"/>
              </a:rPr>
              <a:t>最初に作る4チャート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12B8A6"/>
                </a:solidFill>
                <a:latin typeface="Meiryo"/>
              </a:rPr>
              <a:t>✓ </a:t>
            </a:r>
            <a:r>
              <a:rPr sz="1200">
                <a:solidFill>
                  <a:srgbClr val="485660"/>
                </a:solidFill>
                <a:latin typeface="Meiryo"/>
              </a:rPr>
              <a:t>日別トークン消費（積み上げ：入力 / 出力 / キャッシュ）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12B8A6"/>
                </a:solidFill>
                <a:latin typeface="Meiryo"/>
              </a:rPr>
              <a:t>✓ </a:t>
            </a:r>
            <a:r>
              <a:rPr sz="1200">
                <a:solidFill>
                  <a:srgbClr val="485660"/>
                </a:solidFill>
                <a:latin typeface="Meiryo"/>
              </a:rPr>
              <a:t>ツール使用回数 Top10（横棒）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12B8A6"/>
                </a:solidFill>
                <a:latin typeface="Meiryo"/>
              </a:rPr>
              <a:t>✓ </a:t>
            </a:r>
            <a:r>
              <a:rPr sz="1200">
                <a:solidFill>
                  <a:srgbClr val="485660"/>
                </a:solidFill>
                <a:latin typeface="Meiryo"/>
              </a:rPr>
              <a:t>時間帯×曜日の利用ヒートマップ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12B8A6"/>
                </a:solidFill>
                <a:latin typeface="Meiryo"/>
              </a:rPr>
              <a:t>✓ </a:t>
            </a:r>
            <a:r>
              <a:rPr sz="1200">
                <a:solidFill>
                  <a:srgbClr val="485660"/>
                </a:solidFill>
                <a:latin typeface="Meiryo"/>
              </a:rPr>
              <a:t>セッションごとの往復数とエラー数（散布図）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2011680"/>
            <a:ext cx="5852160" cy="2377440"/>
          </a:xfrm>
          <a:prstGeom prst="roundRect">
            <a:avLst/>
          </a:prstGeom>
          <a:solidFill>
            <a:srgbClr val="12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lnSpc>
                <a:spcPct val="118000"/>
              </a:lnSpc>
            </a:pPr>
            <a:r>
              <a:rPr sz="1050">
                <a:solidFill>
                  <a:srgbClr val="87D8FF"/>
                </a:solidFill>
                <a:latin typeface="Consolas"/>
              </a:rPr>
              <a:t>import</a:t>
            </a:r>
            <a:r>
              <a:rPr sz="1050">
                <a:solidFill>
                  <a:srgbClr val="D7E7EF"/>
                </a:solidFill>
                <a:latin typeface="Consolas"/>
              </a:rPr>
              <a:t> glob, json, pandas </a:t>
            </a:r>
            <a:r>
              <a:rPr sz="1050">
                <a:solidFill>
                  <a:srgbClr val="87D8FF"/>
                </a:solidFill>
                <a:latin typeface="Consolas"/>
              </a:rPr>
              <a:t>as</a:t>
            </a:r>
            <a:r>
              <a:rPr sz="1050">
                <a:solidFill>
                  <a:srgbClr val="D7E7EF"/>
                </a:solidFill>
                <a:latin typeface="Consolas"/>
              </a:rPr>
              <a:t> pd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recs = []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for p in glob.glob('~/.claude/projects/*/*.jsonl'):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    for l in open(p):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        d = json.loads(l)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        if d.get('type')=='assistant':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            u = d['message'].get('usage',{})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            recs.append({'ts':d['timestamp'], …})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df = pd.DataFrame(recs)  </a:t>
            </a:r>
            <a:r>
              <a:rPr sz="1050">
                <a:solidFill>
                  <a:srgbClr val="8298A8"/>
                </a:solidFill>
                <a:latin typeface="Consolas"/>
              </a:rPr>
              <a:t># → groupby して plot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64008" cy="914400"/>
          </a:xfrm>
          <a:prstGeom prst="rect">
            <a:avLst/>
          </a:prstGeom>
          <a:solidFill>
            <a:srgbClr val="FFD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7" y="4709160"/>
            <a:ext cx="11000232" cy="914400"/>
          </a:xfrm>
          <a:prstGeom prst="rect">
            <a:avLst/>
          </a:prstGeom>
          <a:solidFill>
            <a:srgbClr val="FFF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82296"/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17212B"/>
                </a:solidFill>
                <a:latin typeface="Meiryo"/>
              </a:rPr>
              <a:t>発展：</a:t>
            </a:r>
            <a:r>
              <a:rPr sz="1200">
                <a:solidFill>
                  <a:srgbClr val="4A4420"/>
                </a:solidFill>
                <a:latin typeface="Meiryo"/>
              </a:rPr>
              <a:t>この解析自体を Claude Code に頼むのが最速です。「~/.claude/projects の JSONL を読んで利用レポートを HTML で作って」— このスライドの手順がそのままプロンプトになります。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1828800"/>
            <a:ext cx="3291840" cy="3291840"/>
          </a:xfrm>
          <a:prstGeom prst="ellipse">
            <a:avLst/>
          </a:prstGeom>
          <a:solidFill>
            <a:srgbClr val="D9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A8A92"/>
                </a:solidFill>
                <a:latin typeface="Consolas"/>
              </a:rPr>
              <a:t>CC-LOG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55664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A8A92"/>
                </a:solidFill>
                <a:latin typeface="Consolas"/>
              </a:rPr>
              <a:t>WHAT YOU CAN ANALYZE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2B8A6"/>
                </a:solidFill>
                <a:latin typeface="Consolas"/>
              </a:rPr>
              <a:t>12 / 全体マップ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000" b="1">
                <a:solidFill>
                  <a:srgbClr val="17212B"/>
                </a:solidFill>
                <a:latin typeface="Meiryo"/>
              </a:rPr>
              <a:t>解析できること 一覧マトリクス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1106424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669280"/>
                <a:gridCol w="3931920"/>
              </a:tblGrid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7212B"/>
                          </a:solidFill>
                          <a:latin typeface="Meiryo"/>
                        </a:rPr>
                        <a:t>カテゴリ</a:t>
                      </a:r>
                    </a:p>
                  </a:txBody>
                  <a:tcPr marL="73152" marR="54864" marT="27432" marB="27432">
                    <a:solidFill>
                      <a:srgbClr val="E8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7212B"/>
                          </a:solidFill>
                          <a:latin typeface="Meiryo"/>
                        </a:rPr>
                        <a:t>分かること</a:t>
                      </a:r>
                    </a:p>
                  </a:txBody>
                  <a:tcPr marL="73152" marR="54864" marT="27432" marB="27432">
                    <a:solidFill>
                      <a:srgbClr val="E8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17212B"/>
                          </a:solidFill>
                          <a:latin typeface="Meiryo"/>
                        </a:rPr>
                        <a:t>使うフィールド</a:t>
                      </a:r>
                    </a:p>
                  </a:txBody>
                  <a:tcPr marL="73152" marR="54864" marT="27432" marB="27432">
                    <a:solidFill>
                      <a:srgbClr val="E8F6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会話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プロンプト内容・往復数・依頼の種類・会話の分岐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type=user, message.content, parentUuid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行動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ツール比率・実行コマンド・編集ファイル・委譲（サブエージェント）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tool_use.name / input, isSidechain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コスト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トークン内訳・モデル別コスト・キャッシュヒット率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usage.*, model, service_tier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時間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応答待ち・ツール実行時間・セッション長・活動時間帯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timestamp の差分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品質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エラー率・中断率・権限拒否・stop_reason 分布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is_error, stderr, interrupted, stop_reason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文脈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プロジェクト / ブランチ別の作業量・CC バージョン推移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cwd, gitBranch, version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思考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thinking ブロックの量 ＝ 難易度の代理指標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content[].type=="thinking"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タスク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TodoWrite の計画と完了状況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85660"/>
                          </a:solidFill>
                          <a:latin typeface="Meiryo"/>
                        </a:rPr>
                        <a:t>~/.claude/todos/*.json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1828800"/>
            <a:ext cx="3291840" cy="3291840"/>
          </a:xfrm>
          <a:prstGeom prst="ellipse">
            <a:avLst/>
          </a:prstGeom>
          <a:solidFill>
            <a:srgbClr val="D9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A8A92"/>
                </a:solidFill>
                <a:latin typeface="Consolas"/>
              </a:rPr>
              <a:t>CC-LOG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55664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A8A92"/>
                </a:solidFill>
                <a:latin typeface="Consolas"/>
              </a:rPr>
              <a:t>CHEAT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2B8A6"/>
                </a:solidFill>
                <a:latin typeface="Consolas"/>
              </a:rPr>
              <a:t>13 / チートシート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000" b="1">
                <a:solidFill>
                  <a:srgbClr val="17212B"/>
                </a:solidFill>
                <a:latin typeface="Meiryo"/>
              </a:rPr>
              <a:t>コピペで使えるワンライナー集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5440680" cy="3931920"/>
          </a:xfrm>
          <a:prstGeom prst="roundRect">
            <a:avLst/>
          </a:prstGeom>
          <a:solidFill>
            <a:srgbClr val="12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lnSpc>
                <a:spcPct val="118000"/>
              </a:lnSpc>
            </a:pPr>
            <a:r>
              <a:rPr sz="1050">
                <a:solidFill>
                  <a:srgbClr val="8298A8"/>
                </a:solidFill>
                <a:latin typeface="Consolas"/>
              </a:rPr>
              <a:t># ① レコード種別の分布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jq -r '.type' s.jsonl | sort | uniq -c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/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8298A8"/>
                </a:solidFill>
                <a:latin typeface="Consolas"/>
              </a:rPr>
              <a:t># ② 人間のプロンプト一覧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jq -r 'select(.type=="user" and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  (.message.content|type)=="string")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  | .message.content' s.jsonl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/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8298A8"/>
                </a:solidFill>
                <a:latin typeface="Consolas"/>
              </a:rPr>
              <a:t># ③ ツール使用 Top10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jq -r 'select(.type=="assistant")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  | .message.content[]?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  | select(.type=="tool_use").name' s.jsonl \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  | sort | uniq -c | sort -rn | 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440680" cy="3931920"/>
          </a:xfrm>
          <a:prstGeom prst="roundRect">
            <a:avLst/>
          </a:prstGeom>
          <a:solidFill>
            <a:srgbClr val="12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28016" bIns="109728"/>
          <a:lstStyle/>
          <a:p>
            <a:pPr algn="ctr">
              <a:lnSpc>
                <a:spcPct val="118000"/>
              </a:lnSpc>
            </a:pPr>
            <a:r>
              <a:rPr sz="1050">
                <a:solidFill>
                  <a:srgbClr val="8298A8"/>
                </a:solidFill>
                <a:latin typeface="Consolas"/>
              </a:rPr>
              <a:t># ④ 総出力トークン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jq -s '[.[] | select(.type=="assistant")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  | .message.usage.output_tokens] | add' s.jsonl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/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8298A8"/>
                </a:solidFill>
                <a:latin typeface="Consolas"/>
              </a:rPr>
              <a:t># ⑤ 使用モデルの内訳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jq -r 'select(.type=="assistant")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  | .message.model' s.jsonl | sort | uniq -c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/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8298A8"/>
                </a:solidFill>
                <a:latin typeface="Consolas"/>
              </a:rPr>
              <a:t># ⑥ エラーになった tool_result 数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jq '[select(.type=="user")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  | .message.content[]?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  | select(.type=="tool_result"</a:t>
            </a:r>
          </a:p>
          <a:p>
            <a:pPr>
              <a:lnSpc>
                <a:spcPct val="118000"/>
              </a:lnSpc>
            </a:pPr>
            <a:r>
              <a:rPr sz="1050">
                <a:solidFill>
                  <a:srgbClr val="D7E7EF"/>
                </a:solidFill>
                <a:latin typeface="Consolas"/>
              </a:rPr>
              <a:t>     and .is_error==true)] | length' s.jsonl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760720"/>
            <a:ext cx="64008" cy="548640"/>
          </a:xfrm>
          <a:prstGeom prst="rect">
            <a:avLst/>
          </a:prstGeom>
          <a:solidFill>
            <a:srgbClr val="FFD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7" y="5760720"/>
            <a:ext cx="11000232" cy="548640"/>
          </a:xfrm>
          <a:prstGeom prst="rect">
            <a:avLst/>
          </a:prstGeom>
          <a:solidFill>
            <a:srgbClr val="FFF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82296"/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17212B"/>
                </a:solidFill>
                <a:latin typeface="Meiryo"/>
              </a:rPr>
              <a:t>メモ：</a:t>
            </a:r>
            <a:r>
              <a:rPr sz="1200">
                <a:solidFill>
                  <a:srgbClr val="4A4420"/>
                </a:solidFill>
                <a:latin typeface="Meiryo"/>
              </a:rPr>
              <a:t>s.jsonl は対象セッションファイル。*.jsonl にすればプロジェクト全体を一括集計できます。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1828800"/>
            <a:ext cx="3291840" cy="3291840"/>
          </a:xfrm>
          <a:prstGeom prst="ellipse">
            <a:avLst/>
          </a:prstGeom>
          <a:solidFill>
            <a:srgbClr val="D9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A8A92"/>
                </a:solidFill>
                <a:latin typeface="Consolas"/>
              </a:rPr>
              <a:t>CC-LOG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55664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A8A92"/>
                </a:solidFill>
                <a:latin typeface="Consolas"/>
              </a:rPr>
              <a:t>YOU CAN ANALYZE IT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12B8A6"/>
                </a:solidFill>
                <a:latin typeface="Consolas"/>
              </a:rPr>
              <a:t>14 / 仕上げ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000" b="1">
                <a:solidFill>
                  <a:srgbClr val="17212B"/>
                </a:solidFill>
                <a:latin typeface="Meiryo"/>
              </a:rPr>
              <a:t>まとめと、扱う上での注意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3949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28016" bIns="91440"/>
          <a:lstStyle/>
          <a:p>
            <a:pPr algn="ctr"/>
            <a:r>
              <a:rPr sz="1400" b="1">
                <a:solidFill>
                  <a:srgbClr val="17212B"/>
                </a:solidFill>
                <a:latin typeface="Meiryo"/>
              </a:rPr>
              <a:t>今日の手順（再掲）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12B8A6"/>
                </a:solidFill>
                <a:latin typeface="Meiryo"/>
              </a:rPr>
              <a:t>✓ </a:t>
            </a:r>
            <a:r>
              <a:rPr sz="1200">
                <a:solidFill>
                  <a:srgbClr val="485660"/>
                </a:solidFill>
                <a:latin typeface="Meiryo"/>
              </a:rPr>
              <a:t>在り処：~/.claude/projects/…/*.jsonl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12B8A6"/>
                </a:solidFill>
                <a:latin typeface="Meiryo"/>
              </a:rPr>
              <a:t>✓ </a:t>
            </a:r>
            <a:r>
              <a:rPr sz="1200">
                <a:solidFill>
                  <a:srgbClr val="485660"/>
                </a:solidFill>
                <a:latin typeface="Meiryo"/>
              </a:rPr>
              <a:t>type で分類 → メタデータを軸にする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12B8A6"/>
                </a:solidFill>
                <a:latin typeface="Meiryo"/>
              </a:rPr>
              <a:t>✓ </a:t>
            </a:r>
            <a:r>
              <a:rPr sz="1200">
                <a:solidFill>
                  <a:srgbClr val="485660"/>
                </a:solidFill>
                <a:latin typeface="Meiryo"/>
              </a:rPr>
              <a:t>parentUuid で会話ツリーを復元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12B8A6"/>
                </a:solidFill>
                <a:latin typeface="Meiryo"/>
              </a:rPr>
              <a:t>✓ </a:t>
            </a:r>
            <a:r>
              <a:rPr sz="1200">
                <a:solidFill>
                  <a:srgbClr val="485660"/>
                </a:solidFill>
                <a:latin typeface="Meiryo"/>
              </a:rPr>
              <a:t>プロンプト / ツール / usage / 時刻を集計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12B8A6"/>
                </a:solidFill>
                <a:latin typeface="Meiryo"/>
              </a:rPr>
              <a:t>✓ </a:t>
            </a:r>
            <a:r>
              <a:rPr sz="1200">
                <a:solidFill>
                  <a:srgbClr val="485660"/>
                </a:solidFill>
                <a:latin typeface="Meiryo"/>
              </a:rPr>
              <a:t>エラー・中断で改善点を特定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12B8A6"/>
                </a:solidFill>
                <a:latin typeface="Meiryo"/>
              </a:rPr>
              <a:t>✓ </a:t>
            </a:r>
            <a:r>
              <a:rPr sz="1200">
                <a:solidFill>
                  <a:srgbClr val="485660"/>
                </a:solidFill>
                <a:latin typeface="Meiryo"/>
              </a:rPr>
              <a:t>pandas で1枚のレポートに可視化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949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28016" bIns="91440"/>
          <a:lstStyle/>
          <a:p>
            <a:pPr algn="ctr"/>
            <a:r>
              <a:rPr sz="1400" b="1">
                <a:solidFill>
                  <a:srgbClr val="17212B"/>
                </a:solidFill>
                <a:latin typeface="Meiryo"/>
              </a:rPr>
              <a:t>注意点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485660"/>
                </a:solidFill>
                <a:latin typeface="Meiryo"/>
              </a:rPr>
              <a:t/>
            </a:r>
            <a:r>
              <a:rPr sz="1200">
                <a:solidFill>
                  <a:srgbClr val="485660"/>
                </a:solidFill>
                <a:latin typeface="Meiryo"/>
              </a:rPr>
              <a:t>機密が入っている：コード片・パス・コマンド出力がそのまま残る。共有前に必ず内容を確認。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485660"/>
                </a:solidFill>
                <a:latin typeface="Meiryo"/>
              </a:rPr>
              <a:t/>
            </a:r>
            <a:r>
              <a:rPr sz="1200">
                <a:solidFill>
                  <a:srgbClr val="485660"/>
                </a:solidFill>
                <a:latin typeface="Meiryo"/>
              </a:rPr>
              <a:t>消える：cleanupPeriodDays（既定30日）で自動削除。分析用アーカイブは別途退避。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00" b="1">
                <a:solidFill>
                  <a:srgbClr val="485660"/>
                </a:solidFill>
                <a:latin typeface="Meiryo"/>
              </a:rPr>
              <a:t/>
            </a:r>
            <a:r>
              <a:rPr sz="1200">
                <a:solidFill>
                  <a:srgbClr val="485660"/>
                </a:solidFill>
                <a:latin typeface="Meiryo"/>
              </a:rPr>
              <a:t>スキーマは非公式：バージョンで変わり得る。スクリプトは .get() で防御的に。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394960"/>
            <a:ext cx="64008" cy="777240"/>
          </a:xfrm>
          <a:prstGeom prst="rect">
            <a:avLst/>
          </a:prstGeom>
          <a:solidFill>
            <a:srgbClr val="FFD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7" y="5394960"/>
            <a:ext cx="11000232" cy="777240"/>
          </a:xfrm>
          <a:prstGeom prst="rect">
            <a:avLst/>
          </a:prstGeom>
          <a:solidFill>
            <a:srgbClr val="FFF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82296"/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17212B"/>
                </a:solidFill>
                <a:latin typeface="Meiryo"/>
              </a:rPr>
              <a:t>次の一歩：</a:t>
            </a:r>
            <a:r>
              <a:rPr sz="1200">
                <a:solidFill>
                  <a:srgbClr val="4A4420"/>
                </a:solidFill>
                <a:latin typeface="Meiryo"/>
              </a:rPr>
              <a:t>週次で自動集計する cron / Routine を組めば「先週の Claude Code 利用レポート」が毎週届く仕組みまであと一歩です。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