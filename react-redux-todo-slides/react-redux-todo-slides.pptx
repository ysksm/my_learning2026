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2B8A6"/>
                </a:solidFill>
                <a:latin typeface="Meiryo"/>
              </a:rPr>
              <a:t>REACT × TYPESCRIPT × REDUX TOOLKIT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17212B"/>
                </a:solidFill>
                <a:latin typeface="Meiryo"/>
              </a:rPr>
              <a:t>Todo を作って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2563EB"/>
                </a:solidFill>
                <a:latin typeface="Meiryo"/>
              </a:rPr>
              <a:t>Redux を手で覚える。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94760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>
                <a:solidFill>
                  <a:srgbClr val="42515B"/>
                </a:solidFill>
                <a:latin typeface="Meiryo"/>
              </a:rPr>
              <a:t>npm create から始め、DDD＋レイヤード構成で「追加・更新・削除」を Redux store に対して実装します。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892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087D72"/>
                </a:solidFill>
                <a:latin typeface="Meiryo"/>
              </a:rPr>
              <a:t>所要 60–90 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291840"/>
            <a:ext cx="3749039" cy="2651760"/>
          </a:xfrm>
          <a:prstGeom prst="roundRect">
            <a:avLst>
              <a:gd name="adj" fmla="val 9000"/>
            </a:avLst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09728"/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eiryo"/>
              </a:rPr>
              <a:t>このスライドのゴールは、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FFD65A"/>
                </a:solidFill>
                <a:latin typeface="Meiryo"/>
              </a:rPr>
              <a:t>何も見ずに store を組めること。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eiryo"/>
              </a:rPr>
              <a:t>完成後は Todo の状態が一箇所に集まり、どのコンポーネントからでも安全に操作できます。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01 / 最初に地図を見る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今回の責務分け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小さなアプリでも、状態のルールと画面を分離します。Redux はアプリケーション層の状態管理として扱います。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03120"/>
            <a:ext cx="2395728" cy="868680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7212B"/>
                </a:solidFill>
                <a:latin typeface="Meiryo"/>
              </a:rPr>
              <a:t>UI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485660"/>
                </a:solidFill>
                <a:latin typeface="Meiryo"/>
              </a:rPr>
              <a:t>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240280"/>
            <a:ext cx="384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Meiry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03120"/>
            <a:ext cx="2395728" cy="868680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7212B"/>
                </a:solidFill>
                <a:latin typeface="Meiryo"/>
              </a:rPr>
              <a:t>Application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485660"/>
                </a:solidFill>
                <a:latin typeface="Meiryo"/>
              </a:rPr>
              <a:t>slice / 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736" y="2240280"/>
            <a:ext cx="384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Meiry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103120"/>
            <a:ext cx="2395728" cy="868680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7212B"/>
                </a:solidFill>
                <a:latin typeface="Meiryo"/>
              </a:rPr>
              <a:t>Domain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485660"/>
                </a:solidFill>
                <a:latin typeface="Meiryo"/>
              </a:rPr>
              <a:t>Todo 型・ルール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240280"/>
            <a:ext cx="384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Meiry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2103120"/>
            <a:ext cx="2395728" cy="868680"/>
          </a:xfrm>
          <a:prstGeom prst="roundRect">
            <a:avLst>
              <a:gd name="adj" fmla="val 18000"/>
            </a:avLst>
          </a:prstGeom>
          <a:solidFill>
            <a:srgbClr val="E8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7212B"/>
                </a:solidFill>
                <a:latin typeface="Meiryo"/>
              </a:rPr>
              <a:t>Infrastructure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485660"/>
                </a:solidFill>
                <a:latin typeface="Meiryo"/>
              </a:rPr>
              <a:t>Redux 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46120"/>
            <a:ext cx="354787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Domain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485660"/>
                </a:solidFill>
                <a:latin typeface="Meiryo"/>
              </a:rPr>
              <a:t>Todo が何であるか。型や純粋なルールを置く。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3246120"/>
            <a:ext cx="354787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Application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485660"/>
                </a:solidFill>
                <a:latin typeface="Meiryo"/>
              </a:rPr>
              <a:t>画面が使う操作をまとめる。今回は slice が中心。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3246120"/>
            <a:ext cx="354787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Presentation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485660"/>
                </a:solidFill>
                <a:latin typeface="Meiryo"/>
              </a:rPr>
              <a:t>表示とイベント受付だけ。Redux の詳細を持ち込まない。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029200"/>
            <a:ext cx="64008" cy="77724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" y="5029200"/>
            <a:ext cx="10817352" cy="77724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17212B"/>
                </a:solidFill>
                <a:latin typeface="Meiryo"/>
              </a:rPr>
              <a:t>覚える核：</a:t>
            </a:r>
            <a:r>
              <a:rPr sz="1100" b="0">
                <a:solidFill>
                  <a:srgbClr val="42515B"/>
                </a:solidFill>
                <a:latin typeface="Meiryo"/>
              </a:rPr>
              <a:t>state → slice（操作を定義）→ store（登録）→ Provider（配る）→ hooks（読む・送る）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02 / プロジェクトを作る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Vite で React + TypeScript を開始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54480"/>
            <a:ext cx="54864" cy="1965960"/>
          </a:xfrm>
          <a:prstGeom prst="rect">
            <a:avLst/>
          </a:prstGeom>
          <a:solidFill>
            <a:srgbClr val="1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6035040" cy="1965960"/>
          </a:xfrm>
          <a:prstGeom prst="roundRect">
            <a:avLst>
              <a:gd name="adj" fmla="val 8000"/>
            </a:avLst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46304" tIns="164592" bIns="164592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298A8"/>
                </a:solidFill>
                <a:latin typeface="Consolas"/>
              </a:rPr>
              <a:t># プロジェクト作成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npm create vite@latest todo-redux -- --template react-ts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cd todo-redux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npm install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npm install @reduxjs/toolkit react-redux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npm run dev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749039"/>
            <a:ext cx="64008" cy="105156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3749039"/>
            <a:ext cx="5971031" cy="105156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17212B"/>
                </a:solidFill>
                <a:latin typeface="Meiryo"/>
              </a:rPr>
              <a:t>@reduxjs/toolkit</a:t>
            </a:r>
            <a:r>
              <a:rPr sz="1100" b="0">
                <a:solidFill>
                  <a:srgbClr val="42515B"/>
                </a:solidFill>
                <a:latin typeface="Meiryo"/>
              </a:rPr>
              <a:t> は slice と store を作る。
</a:t>
            </a:r>
            <a:r>
              <a:rPr sz="1100" b="1">
                <a:solidFill>
                  <a:srgbClr val="17212B"/>
                </a:solidFill>
                <a:latin typeface="Meiryo"/>
              </a:rPr>
              <a:t>react-redux</a:t>
            </a:r>
            <a:r>
              <a:rPr sz="1100" b="0">
                <a:solidFill>
                  <a:srgbClr val="42515B"/>
                </a:solidFill>
                <a:latin typeface="Meiryo"/>
              </a:rPr>
              <a:t> は React と Redux をつなぐ。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554480"/>
            <a:ext cx="457200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作成時の選択肢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✓ </a:t>
            </a:r>
            <a:r>
              <a:rPr sz="1100" b="0">
                <a:solidFill>
                  <a:srgbClr val="42515B"/>
                </a:solidFill>
                <a:latin typeface="Meiryo"/>
              </a:rPr>
              <a:t>Framework: React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✓ </a:t>
            </a:r>
            <a:r>
              <a:rPr sz="1100" b="0">
                <a:solidFill>
                  <a:srgbClr val="42515B"/>
                </a:solidFill>
                <a:latin typeface="Meiryo"/>
              </a:rPr>
              <a:t>Variant: TypeScript + SWC でOK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✓ </a:t>
            </a:r>
            <a:r>
              <a:rPr sz="1100" b="0">
                <a:solidFill>
                  <a:srgbClr val="42515B"/>
                </a:solidFill>
                <a:latin typeface="Meiryo"/>
              </a:rPr>
              <a:t>ブラウザで Vite の初期画面が見えたら成功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最初の確認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087D72"/>
                </a:solidFill>
                <a:latin typeface="Consolas"/>
              </a:rPr>
              <a:t>src/main.tsx</a:t>
            </a:r>
            <a:r>
              <a:rPr sz="1100" b="0">
                <a:solidFill>
                  <a:srgbClr val="485660"/>
                </a:solidFill>
                <a:latin typeface="Meiryo"/>
              </a:rPr>
              <a:t> がアプリの入口です。ここで後ほど </a:t>
            </a:r>
            <a:r>
              <a:rPr sz="1100" b="0">
                <a:solidFill>
                  <a:srgbClr val="087D72"/>
                </a:solidFill>
                <a:latin typeface="Consolas"/>
              </a:rPr>
              <a:t>Provider</a:t>
            </a:r>
            <a:r>
              <a:rPr sz="1100" b="0">
                <a:solidFill>
                  <a:srgbClr val="485660"/>
                </a:solidFill>
                <a:latin typeface="Meiryo"/>
              </a:rPr>
              <a:t> を追加します。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FOLDERS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03 / 置き場所を決める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機能単位 × レイヤーで整理する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035040" cy="3291840"/>
          </a:xfrm>
          <a:prstGeom prst="roundRect">
            <a:avLst>
              <a:gd name="adj" fmla="val 6000"/>
            </a:avLst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46304" tIns="182880" bIns="109728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253947"/>
                </a:solidFill>
                <a:latin typeface="Consolas"/>
              </a:rPr>
              <a:t>src/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253947"/>
                </a:solidFill>
                <a:latin typeface="Consolas"/>
              </a:rPr>
              <a:t>├── app/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253947"/>
                </a:solidFill>
                <a:latin typeface="Consolas"/>
              </a:rPr>
              <a:t>│   └── store.ts             # Redux の組み立て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253947"/>
                </a:solidFill>
                <a:latin typeface="Consolas"/>
              </a:rPr>
              <a:t>├── features/todo/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253947"/>
                </a:solidFill>
                <a:latin typeface="Consolas"/>
              </a:rPr>
              <a:t>│   ├── domain/todo.ts       # Todo の型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253947"/>
                </a:solidFill>
                <a:latin typeface="Consolas"/>
              </a:rPr>
              <a:t>│   ├── application/todoSlice.ts # 操作と状態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253947"/>
                </a:solidFill>
                <a:latin typeface="Consolas"/>
              </a:rPr>
              <a:t>│   └── presentation/TodoApp.tsx # 画面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253947"/>
                </a:solidFill>
                <a:latin typeface="Consolas"/>
              </a:rPr>
              <a:t>├── App.tsx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253947"/>
                </a:solidFill>
                <a:latin typeface="Consolas"/>
              </a:rPr>
              <a:t>└── main.tsx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554480"/>
            <a:ext cx="457200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この分け方の意図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1">
                <a:solidFill>
                  <a:srgbClr val="17212B"/>
                </a:solidFill>
                <a:latin typeface="Meiryo"/>
              </a:rPr>
              <a:t>features/todo</a:t>
            </a:r>
            <a:r>
              <a:rPr sz="1100" b="0">
                <a:solidFill>
                  <a:srgbClr val="485660"/>
                </a:solidFill>
                <a:latin typeface="Meiryo"/>
              </a:rPr>
              <a:t> に Todo 関連を閉じ込めます。別の機能（auth など）が増えても迷いません。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485660"/>
                </a:solidFill>
                <a:latin typeface="Meiryo"/>
              </a:rPr>
              <a:t>本格的な DDD では repository や use case を増やせます。今回は Redux を覚えるため、最小構成に絞ります。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087D72"/>
                </a:solidFill>
                <a:latin typeface="Consolas"/>
              </a:rPr>
              <a:t>mkdir -p src/app src/features/todo/{domain,application,presentation}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04 /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まず Todo を言葉にする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2911449" cy="310896"/>
          </a:xfrm>
          <a:prstGeom prst="roundRect">
            <a:avLst>
              <a:gd name="adj" fmla="val 30000"/>
            </a:avLst>
          </a:prstGeom>
          <a:solidFill>
            <a:srgbClr val="D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87D72"/>
                </a:solidFill>
                <a:latin typeface="Consolas"/>
              </a:rPr>
              <a:t>src/features/todo/domain/todo.ts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54864" cy="2194560"/>
          </a:xfrm>
          <a:prstGeom prst="rect">
            <a:avLst/>
          </a:prstGeom>
          <a:solidFill>
            <a:srgbClr val="1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7498079" cy="2194560"/>
          </a:xfrm>
          <a:prstGeom prst="roundRect">
            <a:avLst>
              <a:gd name="adj" fmla="val 8000"/>
            </a:avLst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46304" tIns="164592" bIns="164592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export type</a:t>
            </a:r>
            <a:r>
              <a:rPr sz="1100" b="0">
                <a:solidFill>
                  <a:srgbClr val="D7E7EF"/>
                </a:solidFill>
                <a:latin typeface="Consolas"/>
              </a:rPr>
              <a:t> Todo = 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 id: string;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 title: string;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 completed: boolean;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};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export type</a:t>
            </a:r>
            <a:r>
              <a:rPr sz="1100" b="0">
                <a:solidFill>
                  <a:srgbClr val="D7E7EF"/>
                </a:solidFill>
                <a:latin typeface="Consolas"/>
              </a:rPr>
              <a:t> CreateTodoInput = { title: string };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297680"/>
            <a:ext cx="53492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なぜ ID が必要？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485660"/>
                </a:solidFill>
                <a:latin typeface="Meiryo"/>
              </a:rPr>
              <a:t>更新・削除する対象を一意に指定するため。配列の index は並び替えで変わるので使いません。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4297680"/>
            <a:ext cx="534924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なぜ input 型を分ける？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485660"/>
                </a:solidFill>
                <a:latin typeface="Meiryo"/>
              </a:rPr>
              <a:t>新規作成時には id と completed を画面から渡させない、というルールを型で示せます。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SLICE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05 / Slice の骨組み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state と操作を一緒に定義する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3752697" cy="310896"/>
          </a:xfrm>
          <a:prstGeom prst="roundRect">
            <a:avLst>
              <a:gd name="adj" fmla="val 30000"/>
            </a:avLst>
          </a:prstGeom>
          <a:solidFill>
            <a:srgbClr val="D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87D72"/>
                </a:solidFill>
                <a:latin typeface="Consolas"/>
              </a:rPr>
              <a:t>src/features/todo/application/todoSlice.ts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54864" cy="3063240"/>
          </a:xfrm>
          <a:prstGeom prst="rect">
            <a:avLst/>
          </a:prstGeom>
          <a:solidFill>
            <a:srgbClr val="1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10241280" cy="3063240"/>
          </a:xfrm>
          <a:prstGeom prst="roundRect">
            <a:avLst>
              <a:gd name="adj" fmla="val 8000"/>
            </a:avLst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46304" tIns="164592" bIns="164592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import</a:t>
            </a:r>
            <a:r>
              <a:rPr sz="1100" b="0">
                <a:solidFill>
                  <a:srgbClr val="D7E7EF"/>
                </a:solidFill>
                <a:latin typeface="Consolas"/>
              </a:rPr>
              <a:t> { createSlice, </a:t>
            </a:r>
            <a:r>
              <a:rPr sz="1100" b="0">
                <a:solidFill>
                  <a:srgbClr val="87D8FF"/>
                </a:solidFill>
                <a:latin typeface="Consolas"/>
              </a:rPr>
              <a:t>type</a:t>
            </a:r>
            <a:r>
              <a:rPr sz="1100" b="0">
                <a:solidFill>
                  <a:srgbClr val="D7E7EF"/>
                </a:solidFill>
                <a:latin typeface="Consolas"/>
              </a:rPr>
              <a:t> PayloadAction } </a:t>
            </a:r>
            <a:r>
              <a:rPr sz="1100" b="0">
                <a:solidFill>
                  <a:srgbClr val="87D8FF"/>
                </a:solidFill>
                <a:latin typeface="Consolas"/>
              </a:rPr>
              <a:t>from</a:t>
            </a:r>
            <a:r>
              <a:rPr sz="1100" b="0">
                <a:solidFill>
                  <a:srgbClr val="D7E7EF"/>
                </a:solidFill>
                <a:latin typeface="Consolas"/>
              </a:rPr>
              <a:t> '@reduxjs/toolkit';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import type</a:t>
            </a:r>
            <a:r>
              <a:rPr sz="1100" b="0">
                <a:solidFill>
                  <a:srgbClr val="D7E7EF"/>
                </a:solidFill>
                <a:latin typeface="Consolas"/>
              </a:rPr>
              <a:t> { Todo, CreateTodoInput } </a:t>
            </a:r>
            <a:r>
              <a:rPr sz="1100" b="0">
                <a:solidFill>
                  <a:srgbClr val="87D8FF"/>
                </a:solidFill>
                <a:latin typeface="Consolas"/>
              </a:rPr>
              <a:t>from</a:t>
            </a:r>
            <a:r>
              <a:rPr sz="1100" b="0">
                <a:solidFill>
                  <a:srgbClr val="D7E7EF"/>
                </a:solidFill>
                <a:latin typeface="Consolas"/>
              </a:rPr>
              <a:t> '../domain/todo';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type</a:t>
            </a:r>
            <a:r>
              <a:rPr sz="1100" b="0">
                <a:solidFill>
                  <a:srgbClr val="D7E7EF"/>
                </a:solidFill>
                <a:latin typeface="Consolas"/>
              </a:rPr>
              <a:t> TodoState = { items: Todo[] };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const</a:t>
            </a:r>
            <a:r>
              <a:rPr sz="1100" b="0">
                <a:solidFill>
                  <a:srgbClr val="D7E7EF"/>
                </a:solidFill>
                <a:latin typeface="Consolas"/>
              </a:rPr>
              <a:t> initialState: TodoState = { items: [] };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const</a:t>
            </a:r>
            <a:r>
              <a:rPr sz="1100" b="0">
                <a:solidFill>
                  <a:srgbClr val="D7E7EF"/>
                </a:solidFill>
                <a:latin typeface="Consolas"/>
              </a:rPr>
              <a:t> todoSlice = createSlice({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 name: 'todo', initialState,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 reducers: { </a:t>
            </a:r>
            <a:r>
              <a:rPr sz="1100" b="0">
                <a:solidFill>
                  <a:srgbClr val="8298A8"/>
                </a:solidFill>
                <a:latin typeface="Consolas"/>
              </a:rPr>
              <a:t>/* 次のスライドで CRUD を追加 */</a:t>
            </a:r>
            <a:r>
              <a:rPr sz="1100" b="0">
                <a:solidFill>
                  <a:srgbClr val="D7E7EF"/>
                </a:solidFill>
                <a:latin typeface="Consolas"/>
              </a:rPr>
              <a:t> },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});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166360"/>
            <a:ext cx="64008" cy="86868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" y="5166360"/>
            <a:ext cx="10817352" cy="86868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17212B"/>
                </a:solidFill>
                <a:latin typeface="Meiryo"/>
              </a:rPr>
              <a:t>createSlice が作るもの：</a:t>
            </a:r>
            <a:r>
              <a:rPr sz="1100" b="0">
                <a:solidFill>
                  <a:srgbClr val="42515B"/>
                </a:solidFill>
                <a:latin typeface="Meiryo"/>
              </a:rPr>
              <a:t>reducer と action creator。状態・操作名・状態を変える処理を同じファイルに置くのが RTK の基本です。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06 / CRUD reducers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追加・更新・削除を定義する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2465222" cy="310896"/>
          </a:xfrm>
          <a:prstGeom prst="roundRect">
            <a:avLst>
              <a:gd name="adj" fmla="val 30000"/>
            </a:avLst>
          </a:prstGeom>
          <a:solidFill>
            <a:srgbClr val="D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87D72"/>
                </a:solidFill>
                <a:latin typeface="Consolas"/>
              </a:rPr>
              <a:t>todoSlice.ts の reducers 内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4864" cy="3520440"/>
          </a:xfrm>
          <a:prstGeom prst="rect">
            <a:avLst/>
          </a:prstGeom>
          <a:solidFill>
            <a:srgbClr val="1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10881360" cy="3520440"/>
          </a:xfrm>
          <a:prstGeom prst="roundRect">
            <a:avLst>
              <a:gd name="adj" fmla="val 8000"/>
            </a:avLst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46304" tIns="164592" bIns="164592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addTodo: (state, action: PayloadAction&lt;CreateTodoInput&gt;) =&gt; 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state.items.push({ id: crypto.randomUUID(), title: action.payload.title, completed: false });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},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toggleTodo: (state, action: PayloadAction&lt;string&gt;) =&gt; 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</a:t>
            </a:r>
            <a:r>
              <a:rPr sz="1000" b="0">
                <a:solidFill>
                  <a:srgbClr val="87D8FF"/>
                </a:solidFill>
                <a:latin typeface="Consolas"/>
              </a:rPr>
              <a:t>const</a:t>
            </a:r>
            <a:r>
              <a:rPr sz="1000" b="0">
                <a:solidFill>
                  <a:srgbClr val="D7E7EF"/>
                </a:solidFill>
                <a:latin typeface="Consolas"/>
              </a:rPr>
              <a:t> todo = state.items.find(item =&gt; item.id === action.payload);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</a:t>
            </a:r>
            <a:r>
              <a:rPr sz="1000" b="0">
                <a:solidFill>
                  <a:srgbClr val="87D8FF"/>
                </a:solidFill>
                <a:latin typeface="Consolas"/>
              </a:rPr>
              <a:t>if</a:t>
            </a:r>
            <a:r>
              <a:rPr sz="1000" b="0">
                <a:solidFill>
                  <a:srgbClr val="D7E7EF"/>
                </a:solidFill>
                <a:latin typeface="Consolas"/>
              </a:rPr>
              <a:t> (todo) todo.completed = !todo.completed;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},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renameTodo: (state, action: PayloadAction&lt;{ id: string; title: string }&gt;) =&gt; 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</a:t>
            </a:r>
            <a:r>
              <a:rPr sz="1000" b="0">
                <a:solidFill>
                  <a:srgbClr val="87D8FF"/>
                </a:solidFill>
                <a:latin typeface="Consolas"/>
              </a:rPr>
              <a:t>const</a:t>
            </a:r>
            <a:r>
              <a:rPr sz="1000" b="0">
                <a:solidFill>
                  <a:srgbClr val="D7E7EF"/>
                </a:solidFill>
                <a:latin typeface="Consolas"/>
              </a:rPr>
              <a:t> todo = state.items.find(item =&gt; item.id === action.payload.id);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</a:t>
            </a:r>
            <a:r>
              <a:rPr sz="1000" b="0">
                <a:solidFill>
                  <a:srgbClr val="87D8FF"/>
                </a:solidFill>
                <a:latin typeface="Consolas"/>
              </a:rPr>
              <a:t>if</a:t>
            </a:r>
            <a:r>
              <a:rPr sz="1000" b="0">
                <a:solidFill>
                  <a:srgbClr val="D7E7EF"/>
                </a:solidFill>
                <a:latin typeface="Consolas"/>
              </a:rPr>
              <a:t> (todo) todo.title = action.payload.title;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},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deleteTodo: (state, action: PayloadAction&lt;string&gt;) =&gt; 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state.items = state.items.filter(item =&gt; item.id !== action.payload);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},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486400"/>
            <a:ext cx="64008" cy="82296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" y="5486400"/>
            <a:ext cx="10817352" cy="82296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1">
                <a:solidFill>
                  <a:srgbClr val="17212B"/>
                </a:solidFill>
                <a:latin typeface="Meiryo"/>
              </a:rPr>
              <a:t>Immer：</a:t>
            </a:r>
            <a:r>
              <a:rPr sz="1050" b="0">
                <a:solidFill>
                  <a:srgbClr val="42515B"/>
                </a:solidFill>
                <a:latin typeface="Meiryo"/>
              </a:rPr>
              <a:t>RTK が安全な不変更新に変換するため、push やプロパティ代入で書けます。更新は「id + 新しい値」、削除は「id」だけを payload に渡します。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07 / Slice を完成させる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action と reducer を export 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779422" cy="310896"/>
          </a:xfrm>
          <a:prstGeom prst="roundRect">
            <a:avLst>
              <a:gd name="adj" fmla="val 30000"/>
            </a:avLst>
          </a:prstGeom>
          <a:solidFill>
            <a:srgbClr val="D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87D72"/>
                </a:solidFill>
                <a:latin typeface="Consolas"/>
              </a:rPr>
              <a:t>todoSlice.ts の末尾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54864" cy="1600200"/>
          </a:xfrm>
          <a:prstGeom prst="rect">
            <a:avLst/>
          </a:prstGeom>
          <a:solidFill>
            <a:srgbClr val="1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8595360" cy="1600200"/>
          </a:xfrm>
          <a:prstGeom prst="roundRect">
            <a:avLst>
              <a:gd name="adj" fmla="val 8000"/>
            </a:avLst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46304" tIns="164592" bIns="164592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87D8FF"/>
                </a:solidFill>
                <a:latin typeface="Consolas"/>
              </a:rPr>
              <a:t>export const</a:t>
            </a:r>
            <a:r>
              <a:rPr sz="1200" b="0">
                <a:solidFill>
                  <a:srgbClr val="D7E7EF"/>
                </a:solidFill>
                <a:latin typeface="Consolas"/>
              </a:rPr>
              <a:t> { addTodo, toggleTodo, renameTodo, deleteTodo } =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7E7EF"/>
                </a:solidFill>
                <a:latin typeface="Consolas"/>
              </a:rPr>
              <a:t>  todoSlice.actions;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D7E7EF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87D8FF"/>
                </a:solidFill>
                <a:latin typeface="Consolas"/>
              </a:rPr>
              <a:t>export default</a:t>
            </a:r>
            <a:r>
              <a:rPr sz="1200" b="0">
                <a:solidFill>
                  <a:srgbClr val="D7E7EF"/>
                </a:solidFill>
                <a:latin typeface="Consolas"/>
              </a:rPr>
              <a:t> todoSlice.reducer;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40480"/>
            <a:ext cx="53492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名前付き export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485660"/>
                </a:solidFill>
                <a:latin typeface="Meiryo"/>
              </a:rPr>
              <a:t>コンポーネントが </a:t>
            </a:r>
            <a:r>
              <a:rPr sz="1100" b="0">
                <a:solidFill>
                  <a:srgbClr val="087D72"/>
                </a:solidFill>
                <a:latin typeface="Consolas"/>
              </a:rPr>
              <a:t>dispatch(addTodo(...))</a:t>
            </a:r>
            <a:r>
              <a:rPr sz="1100" b="0">
                <a:solidFill>
                  <a:srgbClr val="485660"/>
                </a:solidFill>
                <a:latin typeface="Meiryo"/>
              </a:rPr>
              <a:t> できる action creator。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3840480"/>
            <a:ext cx="534924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default export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485660"/>
                </a:solidFill>
                <a:latin typeface="Meiryo"/>
              </a:rPr>
              <a:t>store に登録する reducer。slice ごとに一つです。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08 /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slice を一つの store に登録する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565452" cy="310896"/>
          </a:xfrm>
          <a:prstGeom prst="roundRect">
            <a:avLst>
              <a:gd name="adj" fmla="val 30000"/>
            </a:avLst>
          </a:prstGeom>
          <a:solidFill>
            <a:srgbClr val="D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87D72"/>
                </a:solidFill>
                <a:latin typeface="Consolas"/>
              </a:rPr>
              <a:t>src/app/store.ts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54864" cy="3017520"/>
          </a:xfrm>
          <a:prstGeom prst="rect">
            <a:avLst/>
          </a:prstGeom>
          <a:solidFill>
            <a:srgbClr val="1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9692640" cy="3017520"/>
          </a:xfrm>
          <a:prstGeom prst="roundRect">
            <a:avLst>
              <a:gd name="adj" fmla="val 8000"/>
            </a:avLst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46304" tIns="164592" bIns="164592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import</a:t>
            </a:r>
            <a:r>
              <a:rPr sz="1100" b="0">
                <a:solidFill>
                  <a:srgbClr val="D7E7EF"/>
                </a:solidFill>
                <a:latin typeface="Consolas"/>
              </a:rPr>
              <a:t> { configureStore } </a:t>
            </a:r>
            <a:r>
              <a:rPr sz="1100" b="0">
                <a:solidFill>
                  <a:srgbClr val="87D8FF"/>
                </a:solidFill>
                <a:latin typeface="Consolas"/>
              </a:rPr>
              <a:t>from</a:t>
            </a:r>
            <a:r>
              <a:rPr sz="1100" b="0">
                <a:solidFill>
                  <a:srgbClr val="D7E7EF"/>
                </a:solidFill>
                <a:latin typeface="Consolas"/>
              </a:rPr>
              <a:t> '@reduxjs/toolkit';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import</a:t>
            </a:r>
            <a:r>
              <a:rPr sz="1100" b="0">
                <a:solidFill>
                  <a:srgbClr val="D7E7EF"/>
                </a:solidFill>
                <a:latin typeface="Consolas"/>
              </a:rPr>
              <a:t> todoReducer </a:t>
            </a:r>
            <a:r>
              <a:rPr sz="1100" b="0">
                <a:solidFill>
                  <a:srgbClr val="87D8FF"/>
                </a:solidFill>
                <a:latin typeface="Consolas"/>
              </a:rPr>
              <a:t>from</a:t>
            </a:r>
            <a:r>
              <a:rPr sz="1100" b="0">
                <a:solidFill>
                  <a:srgbClr val="D7E7EF"/>
                </a:solidFill>
                <a:latin typeface="Consolas"/>
              </a:rPr>
              <a:t> '../features/todo/application/todoSlice';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export const</a:t>
            </a:r>
            <a:r>
              <a:rPr sz="1100" b="0">
                <a:solidFill>
                  <a:srgbClr val="D7E7EF"/>
                </a:solidFill>
                <a:latin typeface="Consolas"/>
              </a:rPr>
              <a:t> store = configureStore({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 reducer: { todo: todoReducer },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});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export type</a:t>
            </a:r>
            <a:r>
              <a:rPr sz="1100" b="0">
                <a:solidFill>
                  <a:srgbClr val="D7E7EF"/>
                </a:solidFill>
                <a:latin typeface="Consolas"/>
              </a:rPr>
              <a:t> RootState = ReturnType&lt;</a:t>
            </a:r>
            <a:r>
              <a:rPr sz="1100" b="0">
                <a:solidFill>
                  <a:srgbClr val="87D8FF"/>
                </a:solidFill>
                <a:latin typeface="Consolas"/>
              </a:rPr>
              <a:t>typeof</a:t>
            </a:r>
            <a:r>
              <a:rPr sz="1100" b="0">
                <a:solidFill>
                  <a:srgbClr val="D7E7EF"/>
                </a:solidFill>
                <a:latin typeface="Consolas"/>
              </a:rPr>
              <a:t> store.getState&gt;;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export type</a:t>
            </a:r>
            <a:r>
              <a:rPr sz="1100" b="0">
                <a:solidFill>
                  <a:srgbClr val="D7E7EF"/>
                </a:solidFill>
                <a:latin typeface="Consolas"/>
              </a:rPr>
              <a:t> AppDispatch = </a:t>
            </a:r>
            <a:r>
              <a:rPr sz="1100" b="0">
                <a:solidFill>
                  <a:srgbClr val="87D8FF"/>
                </a:solidFill>
                <a:latin typeface="Consolas"/>
              </a:rPr>
              <a:t>typeof</a:t>
            </a:r>
            <a:r>
              <a:rPr sz="1100" b="0">
                <a:solidFill>
                  <a:srgbClr val="D7E7EF"/>
                </a:solidFill>
                <a:latin typeface="Consolas"/>
              </a:rPr>
              <a:t> store.dispatch;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120640"/>
            <a:ext cx="64008" cy="82296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" y="5120640"/>
            <a:ext cx="10817352" cy="82296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17212B"/>
                </a:solidFill>
                <a:latin typeface="Meiryo"/>
              </a:rPr>
              <a:t>暗記ポイント：</a:t>
            </a:r>
            <a:r>
              <a:rPr sz="1100" b="0">
                <a:solidFill>
                  <a:srgbClr val="087D72"/>
                </a:solidFill>
                <a:latin typeface="Consolas"/>
              </a:rPr>
              <a:t>reducer: { todo: todoReducer }</a:t>
            </a:r>
            <a:r>
              <a:rPr sz="1100" b="0">
                <a:solidFill>
                  <a:srgbClr val="42515B"/>
                </a:solidFill>
                <a:latin typeface="Meiryo"/>
              </a:rPr>
              <a:t> のキーが、</a:t>
            </a:r>
            <a:r>
              <a:rPr sz="1100" b="0">
                <a:solidFill>
                  <a:srgbClr val="087D72"/>
                </a:solidFill>
                <a:latin typeface="Consolas"/>
              </a:rPr>
              <a:t>state.todo</a:t>
            </a:r>
            <a:r>
              <a:rPr sz="1100" b="0">
                <a:solidFill>
                  <a:srgbClr val="42515B"/>
                </a:solidFill>
                <a:latin typeface="Meiryo"/>
              </a:rPr>
              <a:t> の名前になります。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09 / 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React 全体に store を配る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1228953" cy="310896"/>
          </a:xfrm>
          <a:prstGeom prst="roundRect">
            <a:avLst>
              <a:gd name="adj" fmla="val 30000"/>
            </a:avLst>
          </a:prstGeom>
          <a:solidFill>
            <a:srgbClr val="D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87D72"/>
                </a:solidFill>
                <a:latin typeface="Consolas"/>
              </a:rPr>
              <a:t>src/main.tsx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54864" cy="2514600"/>
          </a:xfrm>
          <a:prstGeom prst="rect">
            <a:avLst/>
          </a:prstGeom>
          <a:solidFill>
            <a:srgbClr val="1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9692640" cy="2514600"/>
          </a:xfrm>
          <a:prstGeom prst="roundRect">
            <a:avLst>
              <a:gd name="adj" fmla="val 8000"/>
            </a:avLst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46304" tIns="164592" bIns="164592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import</a:t>
            </a:r>
            <a:r>
              <a:rPr sz="1100" b="0">
                <a:solidFill>
                  <a:srgbClr val="D7E7EF"/>
                </a:solidFill>
                <a:latin typeface="Consolas"/>
              </a:rPr>
              <a:t> { Provider } </a:t>
            </a:r>
            <a:r>
              <a:rPr sz="1100" b="0">
                <a:solidFill>
                  <a:srgbClr val="87D8FF"/>
                </a:solidFill>
                <a:latin typeface="Consolas"/>
              </a:rPr>
              <a:t>from</a:t>
            </a:r>
            <a:r>
              <a:rPr sz="1100" b="0">
                <a:solidFill>
                  <a:srgbClr val="D7E7EF"/>
                </a:solidFill>
                <a:latin typeface="Consolas"/>
              </a:rPr>
              <a:t> 'react-redux';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import</a:t>
            </a:r>
            <a:r>
              <a:rPr sz="1100" b="0">
                <a:solidFill>
                  <a:srgbClr val="D7E7EF"/>
                </a:solidFill>
                <a:latin typeface="Consolas"/>
              </a:rPr>
              <a:t> { store } </a:t>
            </a:r>
            <a:r>
              <a:rPr sz="1100" b="0">
                <a:solidFill>
                  <a:srgbClr val="87D8FF"/>
                </a:solidFill>
                <a:latin typeface="Consolas"/>
              </a:rPr>
              <a:t>from</a:t>
            </a:r>
            <a:r>
              <a:rPr sz="1100" b="0">
                <a:solidFill>
                  <a:srgbClr val="D7E7EF"/>
                </a:solidFill>
                <a:latin typeface="Consolas"/>
              </a:rPr>
              <a:t> './app/store';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7D8FF"/>
                </a:solidFill>
                <a:latin typeface="Consolas"/>
              </a:rPr>
              <a:t>import</a:t>
            </a:r>
            <a:r>
              <a:rPr sz="1100" b="0">
                <a:solidFill>
                  <a:srgbClr val="D7E7EF"/>
                </a:solidFill>
                <a:latin typeface="Consolas"/>
              </a:rPr>
              <a:t> App </a:t>
            </a:r>
            <a:r>
              <a:rPr sz="1100" b="0">
                <a:solidFill>
                  <a:srgbClr val="87D8FF"/>
                </a:solidFill>
                <a:latin typeface="Consolas"/>
              </a:rPr>
              <a:t>from</a:t>
            </a:r>
            <a:r>
              <a:rPr sz="1100" b="0">
                <a:solidFill>
                  <a:srgbClr val="D7E7EF"/>
                </a:solidFill>
                <a:latin typeface="Consolas"/>
              </a:rPr>
              <a:t> './App';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createRoot(document.getElementById('root')!).render(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  &lt;StrictMode&gt;&lt;Provider store={store}&gt;&lt;App /&gt;&lt;/Provider&gt;&lt;/StrictMode&gt;,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D7E7E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663440"/>
            <a:ext cx="64008" cy="82296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" y="4663440"/>
            <a:ext cx="10817352" cy="82296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17212B"/>
                </a:solidFill>
                <a:latin typeface="Meiryo"/>
              </a:rPr>
              <a:t>Provider がないと</a:t>
            </a:r>
            <a:r>
              <a:rPr sz="1100" b="0">
                <a:solidFill>
                  <a:srgbClr val="42515B"/>
                </a:solidFill>
                <a:latin typeface="Meiryo"/>
              </a:rPr>
              <a:t> useSelector と useDispatch は使えません。アプリの入口で一度だけ囲みます。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READ /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10 /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画面から state を読み、action を送る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3752697" cy="310896"/>
          </a:xfrm>
          <a:prstGeom prst="roundRect">
            <a:avLst>
              <a:gd name="adj" fmla="val 30000"/>
            </a:avLst>
          </a:prstGeom>
          <a:solidFill>
            <a:srgbClr val="DF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8288" bIns="18288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87D72"/>
                </a:solidFill>
                <a:latin typeface="Consolas"/>
              </a:rPr>
              <a:t>src/features/todo/presentation/TodoApp.tsx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4864" cy="3657600"/>
          </a:xfrm>
          <a:prstGeom prst="rect">
            <a:avLst/>
          </a:prstGeom>
          <a:solidFill>
            <a:srgbClr val="12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10881360" cy="3657600"/>
          </a:xfrm>
          <a:prstGeom prst="roundRect">
            <a:avLst>
              <a:gd name="adj" fmla="val 8000"/>
            </a:avLst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46304" tIns="164592" bIns="164592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7D8FF"/>
                </a:solidFill>
                <a:latin typeface="Consolas"/>
              </a:rPr>
              <a:t>const</a:t>
            </a:r>
            <a:r>
              <a:rPr sz="1000" b="0">
                <a:solidFill>
                  <a:srgbClr val="D7E7EF"/>
                </a:solidFill>
                <a:latin typeface="Consolas"/>
              </a:rPr>
              <a:t> [title, setTitle] = useState('');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7D8FF"/>
                </a:solidFill>
                <a:latin typeface="Consolas"/>
              </a:rPr>
              <a:t>const</a:t>
            </a:r>
            <a:r>
              <a:rPr sz="1000" b="0">
                <a:solidFill>
                  <a:srgbClr val="D7E7EF"/>
                </a:solidFill>
                <a:latin typeface="Consolas"/>
              </a:rPr>
              <a:t> todos = useSelector((state: RootState) =&gt; state.todo.items);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7D8FF"/>
                </a:solidFill>
                <a:latin typeface="Consolas"/>
              </a:rPr>
              <a:t>const</a:t>
            </a:r>
            <a:r>
              <a:rPr sz="1000" b="0">
                <a:solidFill>
                  <a:srgbClr val="D7E7EF"/>
                </a:solidFill>
                <a:latin typeface="Consolas"/>
              </a:rPr>
              <a:t> dispatch = useDispatch&lt;AppDispatch&gt;();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&lt;form onSubmit={(e) =&gt; 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e.preventDefault();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</a:t>
            </a:r>
            <a:r>
              <a:rPr sz="1000" b="0">
                <a:solidFill>
                  <a:srgbClr val="87D8FF"/>
                </a:solidFill>
                <a:latin typeface="Consolas"/>
              </a:rPr>
              <a:t>if</a:t>
            </a:r>
            <a:r>
              <a:rPr sz="1000" b="0">
                <a:solidFill>
                  <a:srgbClr val="D7E7EF"/>
                </a:solidFill>
                <a:latin typeface="Consolas"/>
              </a:rPr>
              <a:t> (title.trim()) { dispatch(addTodo({ title: title.trim() })); setTitle(''); }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}}&gt;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&lt;input value={title} onChange={e =&gt; setTitle(e.target.value)} /&gt;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&lt;button&gt;追加&lt;/button&gt;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&lt;/form&gt;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{todos.map(todo =&gt; &lt;li key={todo.id}&gt;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&lt;input type="checkbox" checked={todo.completed} onChange={() =&gt; dispatch(toggleTodo(todo.id))} /&gt;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  {todo.title} &lt;button onClick={() =&gt; dispatch(deleteTodo(todo.id))}&gt;削除&lt;/button&gt;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D7E7EF"/>
                </a:solidFill>
                <a:latin typeface="Consolas"/>
              </a:rPr>
              <a:t>&lt;/li&gt;)}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623560"/>
            <a:ext cx="64008" cy="68580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" y="5623560"/>
            <a:ext cx="10817352" cy="68580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1">
                <a:solidFill>
                  <a:srgbClr val="17212B"/>
                </a:solidFill>
                <a:latin typeface="Meiryo"/>
              </a:rPr>
              <a:t>流れ：</a:t>
            </a:r>
            <a:r>
              <a:rPr sz="1050" b="0">
                <a:solidFill>
                  <a:srgbClr val="42515B"/>
                </a:solidFill>
                <a:latin typeface="Meiryo"/>
              </a:rPr>
              <a:t>イベント → dispatch(action(payload)) → reducer → store 更新 → useSelector の画面が再描画。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98680" cy="694944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TODO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A8A92"/>
                </a:solidFill>
                <a:latin typeface="Consolas"/>
              </a:rPr>
              <a:t>YOU CAN BUILD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11 / 仕上げ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見ずに再現するためのチェック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534924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15 分チャレンジ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✓ </a:t>
            </a:r>
            <a:r>
              <a:rPr sz="1100" b="0">
                <a:solidFill>
                  <a:srgbClr val="42515B"/>
                </a:solidFill>
                <a:latin typeface="Meiryo"/>
              </a:rPr>
              <a:t>Todo 型を書ける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✓ </a:t>
            </a:r>
            <a:r>
              <a:rPr sz="1100" b="0">
                <a:solidFill>
                  <a:srgbClr val="087D72"/>
                </a:solidFill>
                <a:latin typeface="Consolas"/>
              </a:rPr>
              <a:t>createSlice</a:t>
            </a:r>
            <a:r>
              <a:rPr sz="1100" b="0">
                <a:solidFill>
                  <a:srgbClr val="42515B"/>
                </a:solidFill>
                <a:latin typeface="Meiryo"/>
              </a:rPr>
              <a:t> の3要素を書ける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✓ </a:t>
            </a:r>
            <a:r>
              <a:rPr sz="1100" b="0">
                <a:solidFill>
                  <a:srgbClr val="42515B"/>
                </a:solidFill>
                <a:latin typeface="Meiryo"/>
              </a:rPr>
              <a:t>4 action を export できる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✓ </a:t>
            </a:r>
            <a:r>
              <a:rPr sz="1100" b="0">
                <a:solidFill>
                  <a:srgbClr val="087D72"/>
                </a:solidFill>
                <a:latin typeface="Consolas"/>
              </a:rPr>
              <a:t>configureStore</a:t>
            </a:r>
            <a:r>
              <a:rPr sz="1100" b="0">
                <a:solidFill>
                  <a:srgbClr val="42515B"/>
                </a:solidFill>
                <a:latin typeface="Meiryo"/>
              </a:rPr>
              <a:t> に reducer を登録できる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✓ </a:t>
            </a:r>
            <a:r>
              <a:rPr sz="1100" b="0">
                <a:solidFill>
                  <a:srgbClr val="087D72"/>
                </a:solidFill>
                <a:latin typeface="Consolas"/>
              </a:rPr>
              <a:t>Provider</a:t>
            </a:r>
            <a:r>
              <a:rPr sz="1100" b="0">
                <a:solidFill>
                  <a:srgbClr val="42515B"/>
                </a:solidFill>
                <a:latin typeface="Meiryo"/>
              </a:rPr>
              <a:t> でアプリを囲める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12B8A6"/>
                </a:solidFill>
                <a:latin typeface="Meiryo"/>
              </a:rPr>
              <a:t>✓ </a:t>
            </a:r>
            <a:r>
              <a:rPr sz="1100" b="0">
                <a:solidFill>
                  <a:srgbClr val="087D72"/>
                </a:solidFill>
                <a:latin typeface="Consolas"/>
              </a:rPr>
              <a:t>useSelector</a:t>
            </a:r>
            <a:r>
              <a:rPr sz="1100" b="0">
                <a:solidFill>
                  <a:srgbClr val="42515B"/>
                </a:solidFill>
                <a:latin typeface="Meiryo"/>
              </a:rPr>
              <a:t> / </a:t>
            </a:r>
            <a:r>
              <a:rPr sz="1100" b="0">
                <a:solidFill>
                  <a:srgbClr val="087D72"/>
                </a:solidFill>
                <a:latin typeface="Consolas"/>
              </a:rPr>
              <a:t>useDispatch</a:t>
            </a:r>
            <a:r>
              <a:rPr sz="1100" b="0">
                <a:solidFill>
                  <a:srgbClr val="42515B"/>
                </a:solidFill>
                <a:latin typeface="Meiryo"/>
              </a:rPr>
              <a:t> で CRUD できる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54480"/>
            <a:ext cx="534924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09728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7212B"/>
                </a:solidFill>
                <a:latin typeface="Meiryo"/>
              </a:rPr>
              <a:t>つまずきやすい点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1">
                <a:solidFill>
                  <a:srgbClr val="17212B"/>
                </a:solidFill>
                <a:latin typeface="Meiryo"/>
              </a:rPr>
              <a:t>state.todo が undefined</a:t>
            </a:r>
            <a:r>
              <a:rPr sz="1100" b="0">
                <a:solidFill>
                  <a:srgbClr val="485660"/>
                </a:solidFill>
                <a:latin typeface="Meiryo"/>
              </a:rPr>
              <a:t>
store のキーと selector が一致しているか確認。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1">
                <a:solidFill>
                  <a:srgbClr val="17212B"/>
                </a:solidFill>
                <a:latin typeface="Meiryo"/>
              </a:rPr>
              <a:t>dispatch が使えない</a:t>
            </a:r>
            <a:r>
              <a:rPr sz="1100" b="0">
                <a:solidFill>
                  <a:srgbClr val="485660"/>
                </a:solidFill>
                <a:latin typeface="Meiryo"/>
              </a:rPr>
              <a:t>
main.tsx の Provider を確認。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1">
                <a:solidFill>
                  <a:srgbClr val="17212B"/>
                </a:solidFill>
                <a:latin typeface="Meiryo"/>
              </a:rPr>
              <a:t>更新されない</a:t>
            </a:r>
            <a:r>
              <a:rPr sz="1100" b="0">
                <a:solidFill>
                  <a:srgbClr val="485660"/>
                </a:solidFill>
                <a:latin typeface="Meiryo"/>
              </a:rPr>
              <a:t>
id を payload に渡しているか、対象 Todo を find できているか確認。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5349240"/>
            <a:ext cx="64008" cy="82296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" y="5349240"/>
            <a:ext cx="10817352" cy="82296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09728" bIns="109728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17212B"/>
                </a:solidFill>
                <a:latin typeface="Meiryo"/>
              </a:rPr>
              <a:t>次の一歩：</a:t>
            </a:r>
            <a:r>
              <a:rPr sz="1100" b="0">
                <a:solidFill>
                  <a:srgbClr val="42515B"/>
                </a:solidFill>
                <a:latin typeface="Meiryo"/>
              </a:rPr>
              <a:t>編集フォームで </a:t>
            </a:r>
            <a:r>
              <a:rPr sz="1100" b="0">
                <a:solidFill>
                  <a:srgbClr val="087D72"/>
                </a:solidFill>
                <a:latin typeface="Consolas"/>
              </a:rPr>
              <a:t>renameTodo({ id, title })</a:t>
            </a:r>
            <a:r>
              <a:rPr sz="1100" b="0">
                <a:solidFill>
                  <a:srgbClr val="42515B"/>
                </a:solidFill>
                <a:latin typeface="Meiryo"/>
              </a:rPr>
              <a:t> を dispatch し、localStorage 永続化や async thunk に広げましょう。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